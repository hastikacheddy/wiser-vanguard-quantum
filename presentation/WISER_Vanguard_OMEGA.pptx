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E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E2E"/>
                </a:solidFill>
                <a:latin typeface="Arial"/>
              </a:rPr>
              <a:t>Two-qubit gates after routing onto heavy-hex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Routed CX gates (SABRE, heavy-hex, measured)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OMEGA largest circuit
(cluster n=16, tree mixer)</c:v>
                  </c:pt>
                  <c:pt idx="1">
                    <c:v>Competitor, matched size
(n=16 — honest context)</c:v>
                  </c:pt>
                  <c:pt idx="2">
                    <c:v>Competitor, monolithic
(n=100 — REQUIRED)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1735</c:v>
                </c:pt>
                <c:pt idx="1">
                  <c:v>530</c:v>
                </c:pt>
                <c:pt idx="2">
                  <c:v>24530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E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3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in this deck is measured from the committed code base, not estimated. Repo: github.com/hastikacheddy/wiser-vanguard-quantum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by Physics,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by Penalty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Penalty-Free Hybrid Quantum Portfolio Construction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Quantum+AI 2026  ·  Vanguard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allocation copilot: HRP decomposition · ADMM coordination · constraint-preserving QAOA+ · convex polish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Exactly K of N, Inside Hard Guardrails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6583680" cy="4160520"/>
          </a:xfrm>
          <a:prstGeom prst="roundRect">
            <a:avLst>
              <a:gd name="adj" fmla="val 1758"/>
            </a:avLst>
          </a:prstGeom>
          <a:solidFill>
            <a:srgbClr val="F0F4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6035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problem (binary z, continuous w)
</a:t>
            </a:r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 wᵀΣw − λᵣₑₜ μᵀw + cᵀ|w − wₚᵣₑᵥ| + w_cvar·CVaRα(−Rw)
</a:t>
            </a:r>
            <a:pPr indent="0" marL="0">
              <a:buNone/>
            </a:pPr>
            <a:r>
              <a:rPr lang="en-US" sz="14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s.t.  1ᵀw = 1   ·   0 ≤ w ≤ Wₘₐₓ·z   ·   w ≥ wₘᵢₙ·z
</a:t>
            </a:r>
            <a:pPr indent="0" marL="0">
              <a:buNone/>
            </a:pPr>
            <a:r>
              <a:rPr lang="en-US" sz="14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1ᵀz = K (cardinality)   ·   z ∈ {0,1}ᴺ
</a:t>
            </a:r>
            <a:pPr indent="0" marL="0">
              <a:buNone/>
            </a:pPr>
            <a:r>
              <a:rPr lang="en-US" sz="14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class caps S·w ≤ c   ·   income yᵀw ≥ floor
</a:t>
            </a:r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objective, linear constraints, binary decisions — the cardinality constraint makes it NP-hard.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52360" y="123444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91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× 10²⁰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635240" y="2532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portfolios at N=100, K=20 — C(100,20)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35240" y="32918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635240" y="41330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universe: equities, bonds, high yield, commodities, REITs, alts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multi-asset data: returns, volatilities, hierarchical correlation, transaction costs, income yields — all seeded and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Four Pillars, One Handshake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0F4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HRP Decomposition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clustering on correlation distance carves N=100 into 9 clusters (≤20 assets). 96% class purity. Budgets ∝ inverse cluster risk.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56432" y="13716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0F4FB"/>
          </a:solidFill>
          <a:ln/>
        </p:spPr>
      </p:sp>
      <p:sp>
        <p:nvSpPr>
          <p:cNvPr id="8" name="Text 6"/>
          <p:cNvSpPr/>
          <p:nvPr/>
        </p:nvSpPr>
        <p:spPr>
          <a:xfrm>
            <a:off x="3639312" y="1554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ADMM Coordinator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639312" y="2331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z → u loop per cluster with adaptive ρ (residual balancing, μ=10, τ=2). Converged 9/9 clusters to residual ~10⁻⁵.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9944" y="13716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0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6592824" y="1554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Classical x-step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92824" y="2331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convex QP: risk, return, L1 transaction costs + ADMM anchor. Certifiable optimum every iteration.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07424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363456" y="13716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0F4FB"/>
          </a:solidFill>
          <a:ln/>
        </p:spPr>
      </p:sp>
      <p:sp>
        <p:nvSpPr>
          <p:cNvPr id="16" name="Text 14"/>
          <p:cNvSpPr/>
          <p:nvPr/>
        </p:nvSpPr>
        <p:spPr>
          <a:xfrm>
            <a:off x="9546336" y="1554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Quantum z-step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546336" y="2331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Penalty-free QAOA+ on HRP-compiled tree mixers. ADMM term folds into the Ising field — linear in z, zero extra gates.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98348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13892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global convex polish: </a:t>
            </a:r>
            <a:pPr indent="0" marL="0">
              <a:buNone/>
            </a:pPr>
            <a:r>
              <a:rPr lang="en-US" sz="140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weights on the union support against the full covariance, with all guardrails and all four investor goals active. The NP-hard combinatorics live in the quantum layer; everything continuous stays convex and certifiable.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Claim: The Constraint Is a Symmetry of the Circuit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approach adds a penalty:  </a:t>
            </a:r>
            <a:pPr indent="0" marL="0">
              <a:buNone/>
            </a:pPr>
            <a:r>
              <a:rPr lang="en-US" sz="16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λ(1ᵀz − K)²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 knob that must be tuned, and every mis-tuning either leaks the constraint or drowns the market signal.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685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delete the penalty entirely.
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Start in the Dicke state |Dᴺₖ⟩ — uniform superposition over ALL weight-K portfolios
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Mix with XY blocks e^(−iβ(XX+YY)/2) — every gate conserves the number of selected assets
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Phase-separate with the pure mean-variance Hamiltonian — couplings are market structure, nothing else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224028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27335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2514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10⁻³³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955280" y="33558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probability of an illegal portfolio, at random circuit parameters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4160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955280" y="50017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shots — for every γ, β, every depth, Trotterization included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5897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λ to tune. No feasibility repair. No wasted shots. Verified numerically, not asserted.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Compiler-Level Design: Topology-Matched Tree Mixers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mixer graph is not generic — it is compiled from the market.
</a:t>
            </a:r>
            <a:pPr indent="0" marL="0">
              <a:buNone/>
            </a:pPr>
            <a:r>
              <a:rPr lang="en-US" sz="140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cluster, the classical layer emits the maximum-correlation spanning tree (BFS-ordered, degree capped at 3 = the heavy-hex lattice degree). XY excitation hops travel between the closest economic substitutes first, and the tree embeds on the chip without SWAP routing.
</a:t>
            </a:r>
            <a:pPr indent="0" marL="0">
              <a:buNone/>
            </a:pPr>
            <a:r>
              <a:rPr lang="en-US" sz="140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keeps every weight-K portfolio reachable; the degree cap turned out to be free — mixer depth dropped to 3 parallel two-qubit layers, matching a ring.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132588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F0F4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≤ 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0" y="248716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mixer tree embeds on heavy-hex — by construction, all 9 clusters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0" y="30632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0" y="3904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two-qubit slabs per mixer application (was 4–8 uncapped)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the Dicke prep + XY mixer cost real gates — at matched size our circuit is bigger than a penalty circuit. The win is architectural (next slides).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Tunable Investor Goals — Each With a Measured Effect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0F4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λ_ret return emphasis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the risk-return trade-off in both layers; frontier traced live in the copilot.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13716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0F4FB"/>
          </a:solidFill>
          <a:ln/>
        </p:spPr>
      </p:sp>
      <p:sp>
        <p:nvSpPr>
          <p:cNvPr id="8" name="Text 6"/>
          <p:cNvSpPr/>
          <p:nvPr/>
        </p:nvSpPr>
        <p:spPr>
          <a:xfrm>
            <a:off x="3639312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39312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yᵀw ≥ floor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39312" y="26060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floor → book delivers 2.68% yield. Unattainable floors relax gracefully — flagged, never silent.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9944" y="13716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0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6592824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92824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CVaRα scenario penalty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92824" y="26060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Worst-15% monthly scenario loss cut 6.26% → 5.23% (Rockafellar–Uryasev, convex).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63456" y="13716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0F4FB"/>
          </a:solidFill>
          <a:ln/>
        </p:spPr>
      </p:sp>
      <p:sp>
        <p:nvSpPr>
          <p:cNvPr id="16" name="Text 14"/>
          <p:cNvSpPr/>
          <p:nvPr/>
        </p:nvSpPr>
        <p:spPr>
          <a:xfrm>
            <a:off x="9546336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46336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t-cost multiplier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546336" y="26060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Per-asset linear costs scale up to 5×; optimizer holds the previous book harder.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goals act on the convex capital layer — they never touch the quantum circuit, so feasibility stays guaranteed while goals move.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Outcomes (N=100, K=20, seeded — reproducible)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0F4F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00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44144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hard-guardrail breaches — guaranteed by construction, confirmed by audit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56432" y="137160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0F4FB"/>
          </a:solidFill>
          <a:ln/>
        </p:spPr>
      </p:sp>
      <p:sp>
        <p:nvSpPr>
          <p:cNvPr id="7" name="Text 5"/>
          <p:cNvSpPr/>
          <p:nvPr/>
        </p:nvSpPr>
        <p:spPr>
          <a:xfrm>
            <a:off x="3547872" y="1600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47872" y="244144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net of transaction costs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9944" y="137160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0F4FB"/>
          </a:solidFill>
          <a:ln/>
        </p:spPr>
      </p:sp>
      <p:sp>
        <p:nvSpPr>
          <p:cNvPr id="10" name="Text 8"/>
          <p:cNvSpPr/>
          <p:nvPr/>
        </p:nvSpPr>
        <p:spPr>
          <a:xfrm>
            <a:off x="6501384" y="1600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01384" y="244144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 ratio vs certified exhaustive optimum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63456" y="137160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0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9454896" y="1600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454896" y="244144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on a laptop, quantum firing in 9/9 clusters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11558016" cy="2514600"/>
          </a:xfrm>
          <a:prstGeom prst="roundRect">
            <a:avLst>
              <a:gd name="adj" fmla="val 2909"/>
            </a:avLst>
          </a:prstGeom>
          <a:solidFill>
            <a:srgbClr val="F0F4F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classical routines (challenge requirement)
</a:t>
            </a:r>
            <a:pPr indent="0" marL="0">
              <a:buNone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enumeration of the C(n,K) shell (certified optimum) · branch-and-bound MIQP · cardinality-preserving simulated annealing · full-universe HRP.
</a:t>
            </a:r>
            <a:pPr indent="0" marL="0">
              <a:buNone/>
            </a:pPr>
            <a:r>
              <a:rPr lang="en-US" sz="13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HRP baseline: </a:t>
            </a:r>
            <a:pPr indent="0" marL="0">
              <a:buNone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 diversifies over all 100 names — but structurally violates the K-name mandate (1 breach). OMEGA delivers the mandated exactly-20 book at comparable risk-adjusted quality with zero breaches. ADMM residuals decayed 9/9 clusters to ~10⁻⁵; adaptive ρ activated in 9/9; ZNE cut noisy-energy error 6× (0.0013 → 0.0002).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Benchmark: We Ran Their Stack, Correctly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Full-strength replication of the DBSCAN + soft-penalty-QUBO + X-mixer pipeline — encoding verified exact against brute force. Failure modes are measured, never scripted.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0F4F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2176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0.05 (small penalty)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724912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 feasible shots. Most probable outcome: BUY NOTHING — an empty portfolio.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196596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0F4FB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2176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5 (large penalty)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2724912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— but market signal rides on 4.9% of each rotation angle: below realistic pulse calibration.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85048" y="196596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0F4FB"/>
          </a:solidFill>
          <a:ln/>
        </p:spPr>
      </p:sp>
      <p:sp>
        <p:nvSpPr>
          <p:cNvPr id="11" name="Text 9"/>
          <p:cNvSpPr/>
          <p:nvPr/>
        </p:nvSpPr>
        <p:spPr>
          <a:xfrm>
            <a:off x="8586216" y="2176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at defaults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86216" y="2724912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ALL 100 assets as noise. No dendrogram to cut at a qubit budget. HRP: 96% purity, 0 discarded.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892040"/>
            <a:ext cx="11558016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7492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bind, demonstrated: </a:t>
            </a:r>
            <a:pPr indent="0" marL="0">
              <a:buNone/>
            </a:pPr>
            <a:r>
              <a:rPr lang="en-US" sz="14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λ is right. Small λ leaks the mandate; large λ erases the market. And because the penalty couples all N assets, their formulation cannot be decomposed — whatever λ they pick, they must run one monolithic N-qubit circuit.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Audit: Real Transpiler, Real Heavy-Hex Lattice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2588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F0F4FB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0" y="16459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14,630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0" y="248716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SWAP-tax CX gates the monolithic penalty circuit pays for routing alone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0" y="32004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0" y="404164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noise exposure than OMEGA's largest circuit — same N=100 problem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matched size their circuit is cheaper (530 vs 1,735) — we show it. The point is architectural: they can never run small; we never need to run big.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Claim — and What We Don’t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0F4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claim
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beats classical at ≤20 assets — exhaustive search is exact there; QAOA+ ties it (ratio 1.0000).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Per-circuit gate advantage at matched size — Dicke prep and XY mixers cost real gates; shown in our own audit.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wall-times as hardware speed — they benchmark solution quality per oracle model.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19672" y="13716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793992" y="1572768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claim (measured)
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constraint breaches, guaranteed by circuit symmetry — not by a tunable penalty.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formulation here that decomposes: largest circuit ≤20 qubits at any universe size.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resilience: exact classical fail-safe, graceful goal relaxation, full audit trail.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hardware: clusters of 25–35 assets (where enumeration dies), QPU execution on heavy-hex, real data feeds.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can reproduce every number: seeded data, committed QA suites, open dashboards.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is not a penalty term.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a symmetry.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4069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allocation copilot · ADMM convergence · hardware audit — running now.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github.com/hastikacheddy/wiser-vanguard-quantum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2026-07-12T04:31:15Z</dcterms:created>
  <dcterms:modified xsi:type="dcterms:W3CDTF">2026-07-12T04:31:15Z</dcterms:modified>
</cp:coreProperties>
</file>