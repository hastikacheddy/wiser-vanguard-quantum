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A1E2E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A1E2E"/>
                </a:solidFill>
                <a:latin typeface="Arial"/>
              </a:rPr>
              <a:t>Two-qubit gates after routing onto heavy-hex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Routed CX gates (SABRE, heavy-hex, measured)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E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OMEGA largest circuit
(cluster n=16, tree mixer)</c:v>
                  </c:pt>
                  <c:pt idx="1">
                    <c:v>Competitor, matched size
(n=16 — honest context)</c:v>
                  </c:pt>
                  <c:pt idx="2">
                    <c:v>Competitor, monolithic
(n=100 — REQUIRED)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1735</c:v>
                </c:pt>
                <c:pt idx="1">
                  <c:v>530</c:v>
                </c:pt>
                <c:pt idx="2">
                  <c:v>24530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E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1A1E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DE3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4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17320"/>
            <a:ext cx="8778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by Physics,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by Penalty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731520" y="36576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Penalty-Free Hybrid Quantum Portfolio Construction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42519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WISER Global Quantum+AI 2026  ·  Vanguard Challenge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5806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Multi-asset allocation copilot: HRP decomposition · ADMM coordination · constraint-preserving QAOA+ · convex polish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Exactly K of N, Inside Hard Guardrails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6583680" cy="4160520"/>
          </a:xfrm>
          <a:prstGeom prst="roundRect">
            <a:avLst>
              <a:gd name="adj" fmla="val 1758"/>
            </a:avLst>
          </a:prstGeom>
          <a:solidFill>
            <a:srgbClr val="F0F4F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463040"/>
            <a:ext cx="60350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problem (binary z, continuous w)
</a:t>
            </a:r>
            <a:pPr indent="0" marL="0">
              <a:buNone/>
            </a:pPr>
            <a:r>
              <a:rPr lang="en-US" sz="14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 w'Σw − λ_ret μ'w + c'|w − w_prev| + w_cvar·CVaR_α(−Rw)
</a:t>
            </a:r>
            <a:pPr indent="0" marL="0">
              <a:buNone/>
            </a:pPr>
            <a:r>
              <a:rPr lang="en-US" sz="14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s.t.  1'w = 1   ·   0 ≤ w ≤ W_max·z   ·   w ≥ w_min·z
</a:t>
            </a:r>
            <a:pPr indent="0" marL="0">
              <a:buNone/>
            </a:pPr>
            <a:r>
              <a:rPr lang="en-US" sz="14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1'z = K (cardinality)   ·   z ∈ {0,1}^N
</a:t>
            </a:r>
            <a:pPr indent="0" marL="0">
              <a:buNone/>
            </a:pPr>
            <a:r>
              <a:rPr lang="en-US" sz="14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class caps S·w ≤ c   ·   income y'w ≥ floor
</a:t>
            </a:r>
            <a:pPr indent="0" marL="0">
              <a:buNone/>
            </a:pPr>
            <a:r>
              <a:rPr lang="en-US" sz="13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Quadratic objective, linear constraints, binary decisions — the cardinality constraint makes it NP-hard.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452360" y="1234440"/>
            <a:ext cx="4206240" cy="4160520"/>
          </a:xfrm>
          <a:prstGeom prst="roundRect">
            <a:avLst>
              <a:gd name="adj" fmla="val 1758"/>
            </a:avLst>
          </a:prstGeom>
          <a:solidFill>
            <a:srgbClr val="CADCFC"/>
          </a:solidFill>
          <a:ln/>
        </p:spPr>
      </p:sp>
      <p:sp>
        <p:nvSpPr>
          <p:cNvPr id="6" name="Text 4"/>
          <p:cNvSpPr/>
          <p:nvPr/>
        </p:nvSpPr>
        <p:spPr>
          <a:xfrm>
            <a:off x="7635240" y="16916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 × 10^20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635240" y="253288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portfolios at N=100, K=20 — C(100,20)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635240" y="32918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classes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635240" y="4133088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multi-asset universe: equities, bonds, high yield, commodities, REITs, alts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multi-asset data: returns, volatilities, hierarchical correlation, transaction costs, income yields — all seeded and reproducible.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Architecture: Four Pillars, One Handshake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F0F4FB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5544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HRP Decomposition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685800" y="23317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 clustering on correlation distance carves N=100 into 9 clusters (≤20 assets). 96% class purity. Budgets ∝ inverse cluster risk.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200400" y="27432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</a:rPr>
              <a:t>→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456432" y="137160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F0F4FB"/>
          </a:solidFill>
          <a:ln/>
        </p:spPr>
      </p:sp>
      <p:sp>
        <p:nvSpPr>
          <p:cNvPr id="8" name="Text 6"/>
          <p:cNvSpPr/>
          <p:nvPr/>
        </p:nvSpPr>
        <p:spPr>
          <a:xfrm>
            <a:off x="3639312" y="15544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ADMM Coordinator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3639312" y="23317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→ z → u loop per cluster with adaptive ρ (residual balancing, μ=10, τ=2). Converged 9/9 clusters to residual ~10⁻⁵.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153912" y="27432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409944" y="137160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F0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92824" y="15544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Classical x-step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592824" y="23317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CVXPY convex QP: risk, return, L1 transaction costs + ADMM anchor. Certifiable optimum every iteration.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107424" y="27432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9363456" y="1371600"/>
            <a:ext cx="2697480" cy="3291840"/>
          </a:xfrm>
          <a:prstGeom prst="roundRect">
            <a:avLst>
              <a:gd name="adj" fmla="val 2712"/>
            </a:avLst>
          </a:prstGeom>
          <a:solidFill>
            <a:srgbClr val="F0F4FB"/>
          </a:solidFill>
          <a:ln/>
        </p:spPr>
      </p:sp>
      <p:sp>
        <p:nvSpPr>
          <p:cNvPr id="16" name="Text 14"/>
          <p:cNvSpPr/>
          <p:nvPr/>
        </p:nvSpPr>
        <p:spPr>
          <a:xfrm>
            <a:off x="9546336" y="15544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Quantum z-step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9546336" y="23317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Penalty-free QAOA+ on HRP-compiled tree mixers. ADMM term folds into the Ising field — linear in z, zero extra gates.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4983480"/>
            <a:ext cx="11183112" cy="1234440"/>
          </a:xfrm>
          <a:prstGeom prst="roundRect">
            <a:avLst>
              <a:gd name="adj" fmla="val 5926"/>
            </a:avLst>
          </a:prstGeom>
          <a:solidFill>
            <a:srgbClr val="CADCFC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5138928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 global convex polish: </a:t>
            </a:r>
            <a:pPr indent="0" marL="0">
              <a:buNone/>
            </a:pPr>
            <a:r>
              <a:rPr lang="en-US" sz="140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weights on the union support against the full covariance, with all guardrails and all four investor goals active. The NP-hard combinatorics live in the quantum layer; everything continuous stays convex and certifiable.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Claim: The Constraint Is a Symmetry of the Circuit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3258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approach adds a penalty:  </a:t>
            </a:r>
            <a:pPr indent="0" marL="0">
              <a:buNone/>
            </a:pPr>
            <a:r>
              <a:rPr lang="en-US" sz="1600" b="1" dirty="0">
                <a:solidFill>
                  <a:srgbClr val="F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λ(1'z − K)²</a:t>
            </a:r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a knob that must be tuned, and every mis-tuning either leaks the constraint or drowns the market signal.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02920" y="2240280"/>
            <a:ext cx="6858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delete the penalty entirely.
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Start in the Dicke state — uniform superposition over ALL weight-K portfolios
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Mix with XY blocks e^(−iβ(XX+YY)/2) — every gate conserves the number of selected assets
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Phase-separate with the pure mean-variance Hamiltonian — couplings are market structure, nothing else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772400" y="2240280"/>
            <a:ext cx="3886200" cy="3931920"/>
          </a:xfrm>
          <a:prstGeom prst="roundRect">
            <a:avLst>
              <a:gd name="adj" fmla="val 1882"/>
            </a:avLst>
          </a:prstGeom>
          <a:solidFill>
            <a:srgbClr val="27335F"/>
          </a:solidFill>
          <a:ln/>
        </p:spPr>
      </p:sp>
      <p:sp>
        <p:nvSpPr>
          <p:cNvPr id="6" name="Text 4"/>
          <p:cNvSpPr/>
          <p:nvPr/>
        </p:nvSpPr>
        <p:spPr>
          <a:xfrm>
            <a:off x="7955280" y="25146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10⁻³³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955280" y="3355848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probability of an illegal portfolio, at random circuit parameters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955280" y="416052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955280" y="5001768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shots — for every γ, β, every depth, Trotterization included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5897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λ to tune. No feasibility repair. No wasted shots. Verified numerically, not asserted.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Compiler-Level Design: Topology-Matched Tree Mixers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325880"/>
            <a:ext cx="66751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mixer graph is not generic — it is compiled from the market.
</a:t>
            </a:r>
            <a:pPr indent="0" marL="0">
              <a:buNone/>
            </a:pPr>
            <a:r>
              <a:rPr lang="en-US" sz="140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cluster, the classical layer emits the maximum-correlation spanning tree (BFS-ordered, degree capped at 3 = the heavy-hex lattice degree). XY excitation hops travel between the closest economic substitutes first, and the tree embeds on the chip without SWAP routing.
</a:t>
            </a:r>
            <a:pPr indent="0" marL="0">
              <a:buNone/>
            </a:pPr>
            <a:r>
              <a:rPr lang="en-US" sz="140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keeps every weight-K portfolio reachable; the degree cap turned out to be free — mixer depth dropped to 3 parallel two-qubit layers, matching a ring.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589520" y="1325880"/>
            <a:ext cx="4069080" cy="4480560"/>
          </a:xfrm>
          <a:prstGeom prst="roundRect">
            <a:avLst>
              <a:gd name="adj" fmla="val 1798"/>
            </a:avLst>
          </a:prstGeom>
          <a:solidFill>
            <a:srgbClr val="F0F4FB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164592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 ≤ 3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0" y="248716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mixer tree embeds on heavy-hex — by construction, all 9 clusters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0" y="306324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layers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772400" y="390448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two-qubit slabs per mixer application (was 4–8 uncapped)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02920" y="576072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the Dicke prep + XY mixer cost real gates — at matched size our circuit is bigger than a penalty circuit. The win is architectural (next slides).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Tunable Investor Goals — Each With a Measured Effect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2697480" cy="3931920"/>
          </a:xfrm>
          <a:prstGeom prst="roundRect">
            <a:avLst>
              <a:gd name="adj" fmla="val 2712"/>
            </a:avLst>
          </a:prstGeom>
          <a:solidFill>
            <a:srgbClr val="F0F4FB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6002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2057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λ_ret return emphasis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260604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Sweeps the risk-return trade-off in both layers; frontier traced live in the copilot.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56432" y="1371600"/>
            <a:ext cx="2697480" cy="3931920"/>
          </a:xfrm>
          <a:prstGeom prst="roundRect">
            <a:avLst>
              <a:gd name="adj" fmla="val 2712"/>
            </a:avLst>
          </a:prstGeom>
          <a:solidFill>
            <a:srgbClr val="F0F4FB"/>
          </a:solidFill>
          <a:ln/>
        </p:spPr>
      </p:sp>
      <p:sp>
        <p:nvSpPr>
          <p:cNvPr id="8" name="Text 6"/>
          <p:cNvSpPr/>
          <p:nvPr/>
        </p:nvSpPr>
        <p:spPr>
          <a:xfrm>
            <a:off x="3639312" y="16002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39312" y="2057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y'w ≥ floor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639312" y="260604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2.5% floor → book delivers 2.68% yield. Unattainable floors relax gracefully — flagged, never silent.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9944" y="1371600"/>
            <a:ext cx="2697480" cy="3931920"/>
          </a:xfrm>
          <a:prstGeom prst="roundRect">
            <a:avLst>
              <a:gd name="adj" fmla="val 2712"/>
            </a:avLst>
          </a:prstGeom>
          <a:solidFill>
            <a:srgbClr val="F0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92824" y="16002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DRAWDOWN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92824" y="2057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CVaR_α scenario penalty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592824" y="260604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Worst-15% monthly scenario loss cut 6.26% → 5.23% (Rockafellar–Uryasev, convex).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363456" y="1371600"/>
            <a:ext cx="2697480" cy="3931920"/>
          </a:xfrm>
          <a:prstGeom prst="roundRect">
            <a:avLst>
              <a:gd name="adj" fmla="val 2712"/>
            </a:avLst>
          </a:prstGeom>
          <a:solidFill>
            <a:srgbClr val="F0F4FB"/>
          </a:solidFill>
          <a:ln/>
        </p:spPr>
      </p:sp>
      <p:sp>
        <p:nvSpPr>
          <p:cNvPr id="16" name="Text 14"/>
          <p:cNvSpPr/>
          <p:nvPr/>
        </p:nvSpPr>
        <p:spPr>
          <a:xfrm>
            <a:off x="9546336" y="16002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546336" y="2057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t-cost multiplier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9546336" y="2606040"/>
            <a:ext cx="2331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Per-asset linear costs scale up to 5×; optimizer holds the previous book harder.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2920" y="562356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goals act on the convex capital layer — they never touch the quantum circuit, so feasibility stays guaranteed while goals move.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Outcomes (N=100, K=20, seeded — reproducible)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2697480" cy="2011680"/>
          </a:xfrm>
          <a:prstGeom prst="roundRect">
            <a:avLst>
              <a:gd name="adj" fmla="val 3636"/>
            </a:avLst>
          </a:prstGeom>
          <a:solidFill>
            <a:srgbClr val="F0F4FB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160020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94360" y="2441448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hard-guardrail breaches — guaranteed by construction, confirmed by audit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456432" y="1371600"/>
            <a:ext cx="2697480" cy="2011680"/>
          </a:xfrm>
          <a:prstGeom prst="roundRect">
            <a:avLst>
              <a:gd name="adj" fmla="val 3636"/>
            </a:avLst>
          </a:prstGeom>
          <a:solidFill>
            <a:srgbClr val="F0F4FB"/>
          </a:solidFill>
          <a:ln/>
        </p:spPr>
      </p:sp>
      <p:sp>
        <p:nvSpPr>
          <p:cNvPr id="7" name="Text 5"/>
          <p:cNvSpPr/>
          <p:nvPr/>
        </p:nvSpPr>
        <p:spPr>
          <a:xfrm>
            <a:off x="3547872" y="160020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0.47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3547872" y="2441448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Sharpe, net of transaction costs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9944" y="1371600"/>
            <a:ext cx="2697480" cy="2011680"/>
          </a:xfrm>
          <a:prstGeom prst="roundRect">
            <a:avLst>
              <a:gd name="adj" fmla="val 3636"/>
            </a:avLst>
          </a:prstGeom>
          <a:solidFill>
            <a:srgbClr val="F0F4FB"/>
          </a:solidFill>
          <a:ln/>
        </p:spPr>
      </p:sp>
      <p:sp>
        <p:nvSpPr>
          <p:cNvPr id="10" name="Text 8"/>
          <p:cNvSpPr/>
          <p:nvPr/>
        </p:nvSpPr>
        <p:spPr>
          <a:xfrm>
            <a:off x="6501384" y="160020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1.0000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501384" y="2441448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approximation ratio vs certified exhaustive optimum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363456" y="1371600"/>
            <a:ext cx="2697480" cy="2011680"/>
          </a:xfrm>
          <a:prstGeom prst="roundRect">
            <a:avLst>
              <a:gd name="adj" fmla="val 3636"/>
            </a:avLst>
          </a:prstGeom>
          <a:solidFill>
            <a:srgbClr val="F0F4FB"/>
          </a:solidFill>
          <a:ln/>
        </p:spPr>
      </p:sp>
      <p:sp>
        <p:nvSpPr>
          <p:cNvPr id="13" name="Text 11"/>
          <p:cNvSpPr/>
          <p:nvPr/>
        </p:nvSpPr>
        <p:spPr>
          <a:xfrm>
            <a:off x="9454896" y="160020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s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454896" y="2441448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pipeline on a laptop, quantum firing in 9/9 clusters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02920" y="3657600"/>
            <a:ext cx="11558016" cy="2514600"/>
          </a:xfrm>
          <a:prstGeom prst="roundRect">
            <a:avLst>
              <a:gd name="adj" fmla="val 2909"/>
            </a:avLst>
          </a:prstGeom>
          <a:solidFill>
            <a:srgbClr val="F0F4FB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4048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against classical routines (challenge requirement)
</a:t>
            </a:r>
            <a:pPr indent="0" marL="0">
              <a:buNone/>
            </a:pPr>
            <a:r>
              <a:rPr lang="en-US" sz="13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Exhaustive enumeration of the C(n,K) shell (certified optimum) · branch-and-bound MIQP · cardinality-preserving simulated annealing · full-universe HRP.
</a:t>
            </a:r>
            <a:pPr indent="0" marL="0">
              <a:buNone/>
            </a:pPr>
            <a:r>
              <a:rPr lang="en-US" sz="1350" b="1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HRP baseline: </a:t>
            </a:r>
            <a:pPr indent="0" marL="0">
              <a:buNone/>
            </a:pPr>
            <a:r>
              <a:rPr lang="en-US" sz="13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HRP diversifies over all 100 names — but structurally violates the K-name mandate (1 breach). OMEGA delivers the mandated exactly-20 book at comparable risk-adjusted quality with zero breaches. ADMM residuals decayed 9/9 clusters to ~10⁻⁵; adaptive ρ activated in 9/9; ZNE cut noisy-energy error 6× (0.0013 → 0.0002).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Allocation Copilot — Live on Real Market Data</a:t>
            </a:r>
            <a:endParaRPr lang="en-US" sz="3000" dirty="0"/>
          </a:p>
        </p:txBody>
      </p:sp>
      <p:pic>
        <p:nvPicPr>
          <p:cNvPr id="3" name="Image 0" descr="C:\Users\hasti\Desktop\WISER\docs\screenshots\01-alloc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7461504" cy="448056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6B8">
                <a:alpha val="4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8183880" y="1234440"/>
            <a:ext cx="3547872" cy="4480560"/>
          </a:xfrm>
          <a:prstGeom prst="roundRect">
            <a:avLst>
              <a:gd name="adj" fmla="val 2062"/>
            </a:avLst>
          </a:prstGeom>
          <a:solidFill>
            <a:srgbClr val="F0F4FB"/>
          </a:solidFill>
          <a:ln/>
        </p:spPr>
      </p:sp>
      <p:sp>
        <p:nvSpPr>
          <p:cNvPr id="5" name="Text 2"/>
          <p:cNvSpPr/>
          <p:nvPr/>
        </p:nvSpPr>
        <p:spPr>
          <a:xfrm>
            <a:off x="8412480" y="1481328"/>
            <a:ext cx="31089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you're seeing
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real ETFs, loaded offline — the same pipeline, unchanged.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hard-guardrail breaches — top metric, guaranteed by design.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pinned at the 10% cap and 1% floor — the constraints are visibly binding.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investor-goal sliders live in the sidebar.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Streamlit copilot · three tabs: Allocation · ADMM Convergence · Hardware Audit.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Adversarial Benchmark: We Ran Their Stack, Correctly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1887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Full-strength replication of the DBSCAN + soft-penalty-QUBO + X-mixer pipeline — encoding verified exact against brute force. Failure modes are measured, never scripted.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3657600" cy="2651760"/>
          </a:xfrm>
          <a:prstGeom prst="roundRect">
            <a:avLst>
              <a:gd name="adj" fmla="val 2759"/>
            </a:avLst>
          </a:prstGeom>
          <a:solidFill>
            <a:srgbClr val="F0F4FB"/>
          </a:solidFill>
          <a:ln/>
        </p:spPr>
      </p:sp>
      <p:sp>
        <p:nvSpPr>
          <p:cNvPr id="5" name="Text 3"/>
          <p:cNvSpPr/>
          <p:nvPr/>
        </p:nvSpPr>
        <p:spPr>
          <a:xfrm>
            <a:off x="704088" y="217627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0.05 (small penalty)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04088" y="2724912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2.3% feasible shots. Most probable outcome: BUY NOTHING — an empty portfolio.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443984" y="1965960"/>
            <a:ext cx="3657600" cy="2651760"/>
          </a:xfrm>
          <a:prstGeom prst="roundRect">
            <a:avLst>
              <a:gd name="adj" fmla="val 2759"/>
            </a:avLst>
          </a:prstGeom>
          <a:solidFill>
            <a:srgbClr val="F0F4FB"/>
          </a:solidFill>
          <a:ln/>
        </p:spPr>
      </p:sp>
      <p:sp>
        <p:nvSpPr>
          <p:cNvPr id="8" name="Text 6"/>
          <p:cNvSpPr/>
          <p:nvPr/>
        </p:nvSpPr>
        <p:spPr>
          <a:xfrm>
            <a:off x="4645152" y="217627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5 (large penalty)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645152" y="2724912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— but market signal rides on 4.9% of each rotation angle: below realistic pulse calibration.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385048" y="1965960"/>
            <a:ext cx="3657600" cy="2651760"/>
          </a:xfrm>
          <a:prstGeom prst="roundRect">
            <a:avLst>
              <a:gd name="adj" fmla="val 2759"/>
            </a:avLst>
          </a:prstGeom>
          <a:solidFill>
            <a:srgbClr val="F0F4FB"/>
          </a:solidFill>
          <a:ln/>
        </p:spPr>
      </p:sp>
      <p:sp>
        <p:nvSpPr>
          <p:cNvPr id="11" name="Text 9"/>
          <p:cNvSpPr/>
          <p:nvPr/>
        </p:nvSpPr>
        <p:spPr>
          <a:xfrm>
            <a:off x="8586216" y="217627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DBSCAN at defaults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586216" y="2724912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ALL 100 assets as noise. No dendrogram to cut at a qubit budget. HRP: 96% purity, 0 discarded.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02920" y="4892040"/>
            <a:ext cx="11558016" cy="1371600"/>
          </a:xfrm>
          <a:prstGeom prst="roundRect">
            <a:avLst>
              <a:gd name="adj" fmla="val 5333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5074920"/>
            <a:ext cx="10972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double bind, demonstrated: </a:t>
            </a:r>
            <a:pPr indent="0" marL="0">
              <a:buNone/>
            </a:pPr>
            <a:r>
              <a:rPr lang="en-US" sz="14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λ is right. Small λ leaks the mandate; large λ erases the market. And because the penalty couples all N assets, their formulation cannot be decomposed — whatever λ they pick, they must run one monolithic N-qubit circuit.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 Audit: Real Transpiler, Real Heavy-Hex Lattice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02920" y="132588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589520" y="1325880"/>
            <a:ext cx="4069080" cy="4480560"/>
          </a:xfrm>
          <a:prstGeom prst="roundRect">
            <a:avLst>
              <a:gd name="adj" fmla="val 1798"/>
            </a:avLst>
          </a:prstGeom>
          <a:solidFill>
            <a:srgbClr val="F0F4FB"/>
          </a:solidFill>
          <a:ln/>
        </p:spPr>
      </p:sp>
      <p:sp>
        <p:nvSpPr>
          <p:cNvPr id="5" name="Text 2"/>
          <p:cNvSpPr/>
          <p:nvPr/>
        </p:nvSpPr>
        <p:spPr>
          <a:xfrm>
            <a:off x="7772400" y="164592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14,630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7772400" y="248716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SWAP-tax CX gates the monolithic penalty circuit pays for routing alone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772400" y="3200400"/>
            <a:ext cx="3703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14×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772400" y="404164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noise exposure than OMEGA's largest circuit — same N=100 problem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02920" y="589788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matched size their circuit is cheaper (530 vs 1,735) — we show it. The point is architectural: they can never run small; we never need to run big.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&amp; Roadmap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5532120" cy="4480560"/>
          </a:xfrm>
          <a:prstGeom prst="roundRect">
            <a:avLst>
              <a:gd name="adj" fmla="val 1633"/>
            </a:avLst>
          </a:prstGeom>
          <a:solidFill>
            <a:srgbClr val="F0F4F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572768"/>
            <a:ext cx="50292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hardware we're heading toward
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circuit ≤ 20 qubits — sized for the real NISQ devices of today, not a distant fault-tolerant future.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gate and per-run audit trail packaged as a deployable engine — not just a notebook.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relevant: every institutional fund must hold a fixed set of names under hard mandates.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19672" y="1371600"/>
            <a:ext cx="5532120" cy="4480560"/>
          </a:xfrm>
          <a:prstGeom prst="roundRect">
            <a:avLst>
              <a:gd name="adj" fmla="val 1633"/>
            </a:avLst>
          </a:prstGeom>
          <a:solidFill>
            <a:srgbClr val="F0F4FB"/>
          </a:solidFill>
          <a:ln/>
        </p:spPr>
      </p:sp>
      <p:sp>
        <p:nvSpPr>
          <p:cNvPr id="6" name="Text 4"/>
          <p:cNvSpPr/>
          <p:nvPr/>
        </p:nvSpPr>
        <p:spPr>
          <a:xfrm>
            <a:off x="6793992" y="1572768"/>
            <a:ext cx="50292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to practice
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on a real QPU — circuits are already compiled to the heavy-hex layout, SWAP-free.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cluster sizes where classical enumeration becomes intractable — where quantum earns its keep.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A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a professional risk model and live data feeds for production deployment.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59893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today's scale the advantage is structural — a hard compliance guarantee and a hardware-ready architecture, built to earn quantum advantage as problem sizes grow.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is not a penalty term.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a symmetry.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40690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Multi-asset allocation copilot: guaranteed-compliant, hardware-ready, every number measured.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github.com/hastikacheddy/wiser-vanguard-quantum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2026-09-23T11:02:15Z</dcterms:created>
  <dcterms:modified xsi:type="dcterms:W3CDTF">2026-09-23T11:02:15Z</dcterms:modified>
</cp:coreProperties>
</file>