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E2E"/>
                </a:solidFill>
                <a:latin typeface="Arial"/>
              </a:defRPr>
            </a:pPr>
            <a:r>
              <a:rPr sz="1400" b="0" i="0" u="none" strike="noStrike">
                <a:solidFill>
                  <a:srgbClr val="1A1E2E"/>
                </a:solidFill>
                <a:latin typeface="Arial"/>
              </a:rPr>
              <a:t>Two-qubit gates after routing onto heavy-hex</a:t>
            </a:r>
          </a:p>
        </c:rich>
      </c:tx>
      <c:layout/>
      <c:overlay val="0"/>
    </c:title>
    <c:autoTitleDeleted val="0"/>
    <c:plotArea>
      <c:layout/>
      <c:barChart>
        <c:barDir val="bar"/>
        <c:grouping val="clustered"/>
        <c:varyColors val="0"/>
        <c:ser>
          <c:idx val="0"/>
          <c:order val="0"/>
          <c:tx>
            <c:strRef>
              <c:f>Sheet1!$B$1</c:f>
              <c:strCache>
                <c:ptCount val="1"/>
                <c:pt idx="0">
                  <c:v>Routed CX gates (SABRE, heavy-hex, measured)</c:v>
                </c:pt>
              </c:strCache>
            </c:strRef>
          </c:tx>
          <c:spPr>
            <a:solidFill>
              <a:srgbClr val="1E2761"/>
            </a:solidFill>
            <a:effectLst/>
          </c:spPr>
          <c:invertIfNegative val="0"/>
          <c:dLbls>
            <c:numFmt formatCode="#,##0" sourceLinked="0"/>
            <c:txPr>
              <a:bodyPr/>
              <a:lstStyle/>
              <a:p>
                <a:pPr>
                  <a:defRPr b="1" i="0" strike="noStrike" sz="1300" u="none">
                    <a:solidFill>
                      <a:srgbClr val="1A1E2E"/>
                    </a:solidFill>
                    <a:latin typeface="Arial"/>
                  </a:defRPr>
                </a:pPr>
              </a:p>
            </c:txPr>
            <c:showLegendKey val="0"/>
            <c:showVal val="1"/>
            <c:showCatName val="0"/>
            <c:showSerName val="0"/>
            <c:showPercent val="0"/>
            <c:showBubbleSize val="0"/>
            <c:showLeaderLines val="0"/>
          </c:dLbls>
          <c:cat>
            <c:multiLvlStrRef>
              <c:f>Sheet1!$A$2:$A$4</c:f>
              <c:multiLvlStrCache>
                <c:ptCount val="3"/>
                <c:lvl>
                  <c:pt idx="0">
                    <c:v>OMEGA largest circuit
(cluster n=16, tree mixer)</c:v>
                  </c:pt>
                  <c:pt idx="1">
                    <c:v>Competitor, matched size
(n=16 — honest context)</c:v>
                  </c:pt>
                  <c:pt idx="2">
                    <c:v>Competitor, monolithic
(n=100 — REQUIRED)</c:v>
                  </c:pt>
                </c:lvl>
              </c:multiLvlStrCache>
            </c:multiLvlStrRef>
          </c:cat>
          <c:val>
            <c:numRef>
              <c:f>Sheet1!$B$2:$B$4</c:f>
              <c:numCache>
                <c:formatCode>General</c:formatCode>
                <c:ptCount val="3"/>
                <c:pt idx="0">
                  <c:v>1735</c:v>
                </c:pt>
                <c:pt idx="1">
                  <c:v>530</c:v>
                </c:pt>
                <c:pt idx="2">
                  <c:v>24530</c:v>
                </c:pt>
              </c:numCache>
            </c:numRef>
          </c:val>
        </c:ser>
        <c:dLbls>
          <c:numFmt formatCode="#,##0" sourceLinked="0"/>
          <c:txPr>
            <a:bodyPr/>
            <a:lstStyle/>
            <a:p>
              <a:pPr>
                <a:defRPr b="1" i="0" strike="noStrike" sz="1300" u="none">
                  <a:solidFill>
                    <a:srgbClr val="1A1E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A1E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DE3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[~15s] Hi, I'm Hastika. My project builds a quantum-classical pipeline for multi-asset portfolio construction. The whole idea: enforce the portfolio rules through the PHYSICS of a quantum circuit, not a tunable penalty. Take a breath, then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The challenge: pick EXACTLY K assets from many, allocate money across them, and never break hard rules — position limits, how many assets you hold, sector caps. The usual quantum method turns 'exactly K' into a penalty you tune with a knob called lambda. The problem: a penalty only ENCOURAGES the rule — set it too low, the circuit ignores it; too high, it drowns out the market signal. (Don't read the math box — just gesture to it as 'a real, hard optimization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To scale this to 100 assets, four pieces work together. HRP splits the universe into small clusters. ADMM coordinates the classical and quantum layers. A classical convex optimizer handles the money allocation. And the quantum step does the asset selection. Point at the four cards — don't read them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 THE most important slide, say it slowly] I remove the penalty completely. I start the circuit in a special state, and use gates that all conserve the number of selected assets. So the circuit PHYSICALLY CANNOT produce a portfolio with the wrong number of assets. I measured the probability of an illegal result at ten-to-the-minus-33 — essentially zero. So compliance becomes a mathematical guarantee, not a knob you hope you tuned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[FLASH ~10s, or SKIP if running long] One quick point: the quantum circuit is compiled to MATCH the real hardware layout, so it runs without extra routing gates. That's it — move on. If you're tight on time, skip this slide entirely; it's a bonus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[~15s — quick] The pipeline also handles four real investor goals — growth, income, drawdown control, and cost — and each one has a MEASURED effect. Don't read all four out; just say 'four tunable goals, all with measured effects'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[~40s] The results — all measured and reproducible. Zero hard-rule breaches, guaranteed by design. A Sharpe ratio of 0.47 net of costs. And an approximation ratio of ONE-POINT-ZERO against a certified optimal solution — it found the best possible answer at the sizes I tested. I validated against exhaustive search, MIQP, and simulated annealing.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[~15s — this is your DEMO] And here's the copilot itself, running on 41 real ETFs. You can see zero breaches up top, the selected holdings with real tickers, and the goal sliders on the left. It's fully interactive — I'm showing it as a screenshot so we stay on time. (Only flip to the live app if it's already open AND you feel confident.)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[FLASH ~15s, or SKIP if running long] I also built the standard penalty approach at full strength and measured how it fails: at low penalty it picks nothing — an empty portfolio; at high penalty it drowns the market signal. One line, then move to the hardware slide. Skip if you're tight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 the payoff] On a real quantum-hardware layout: my biggest circuit needs about 1,700 two-qubit gates. The penalty method's REQUIRED circuit needs over 24,000 — fourteen times more. On today's noisy hardware that's the difference between usable and unusable. The reason is structural: their penalty ties all the assets together, so they can't break the problem into pieces. Mine can. (If a judge pushes: yes, at equal size their circuit is cheaper — I show that honestly — the advantage is architectural.)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To be clear on scope: this is built for the NISQ hardware we actually have — every circuit stays small enough to run on a real chip, and I packaged the classical core as a deployable engine with compliance checks and audit trails. The roadmap: run on a real quantum processor, scale to sizes where classical breaks down, and plug in a professional risk model. Today the advantage is structural — a guarantee plus a hardware-ready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[~15s] In one line: feasibility as a symmetry, not a penalty — and an architecture that stays hardware-ready as these problems grow. Everything's measured and in the repo. Thank you. Then STOP talking — smile, and wait for the judge's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417320"/>
            <a:ext cx="8778240" cy="2194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Feasibility by Physics,</a:t>
            </a:r>
            <a:endParaRPr lang="en-US" sz="5200" dirty="0"/>
          </a:p>
          <a:p>
            <a:pPr indent="0" marL="0">
              <a:buNone/>
            </a:pPr>
            <a:r>
              <a:rPr lang="en-US" sz="5200" b="1" dirty="0">
                <a:solidFill>
                  <a:srgbClr val="FFFFFF"/>
                </a:solidFill>
                <a:latin typeface="Cambria" pitchFamily="34" charset="0"/>
                <a:ea typeface="Cambria" pitchFamily="34" charset="-122"/>
                <a:cs typeface="Cambria" pitchFamily="34" charset="-120"/>
              </a:rPr>
              <a:t>Not by Penalty</a:t>
            </a:r>
            <a:endParaRPr lang="en-US" sz="5200" dirty="0"/>
          </a:p>
        </p:txBody>
      </p:sp>
      <p:sp>
        <p:nvSpPr>
          <p:cNvPr id="3" name="Text 1"/>
          <p:cNvSpPr/>
          <p:nvPr/>
        </p:nvSpPr>
        <p:spPr>
          <a:xfrm>
            <a:off x="731520" y="3657600"/>
            <a:ext cx="96012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Penalty-Free Hybrid Quantum Portfolio Construction</a:t>
            </a:r>
            <a:endParaRPr lang="en-US" sz="2200" dirty="0"/>
          </a:p>
        </p:txBody>
      </p:sp>
      <p:sp>
        <p:nvSpPr>
          <p:cNvPr id="4" name="Text 2"/>
          <p:cNvSpPr/>
          <p:nvPr/>
        </p:nvSpPr>
        <p:spPr>
          <a:xfrm>
            <a:off x="731520" y="4251960"/>
            <a:ext cx="96012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WISER Global Quantum+AI 2026  ·  Vanguard Challenge</a:t>
            </a:r>
            <a:endParaRPr lang="en-US" sz="1600" dirty="0"/>
          </a:p>
        </p:txBody>
      </p:sp>
      <p:sp>
        <p:nvSpPr>
          <p:cNvPr id="5" name="Text 3"/>
          <p:cNvSpPr/>
          <p:nvPr/>
        </p:nvSpPr>
        <p:spPr>
          <a:xfrm>
            <a:off x="731520" y="5806440"/>
            <a:ext cx="10607040" cy="457200"/>
          </a:xfrm>
          <a:prstGeom prst="rect">
            <a:avLst/>
          </a:prstGeom>
          <a:noFill/>
          <a:ln/>
        </p:spPr>
        <p:txBody>
          <a:bodyPr wrap="square" lIns="0" tIns="0" rIns="0" bIns="0" rtlCol="0" anchor="ctr"/>
          <a:lstStyle/>
          <a:p>
            <a:pPr indent="0" marL="0">
              <a:buNone/>
            </a:pPr>
            <a:r>
              <a:rPr lang="en-US" sz="1300" dirty="0">
                <a:solidFill>
                  <a:srgbClr val="8FA3D8"/>
                </a:solidFill>
                <a:latin typeface="Calibri" pitchFamily="34" charset="0"/>
                <a:ea typeface="Calibri" pitchFamily="34" charset="-122"/>
                <a:cs typeface="Calibri" pitchFamily="34" charset="-120"/>
              </a:rPr>
              <a:t>Multi-asset allocation copilot: HRP decomposition · ADMM coordination · constraint-preserving QAOA+ · convex polish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The Problem: Exactly K of N, Inside Hard Guardrails</a:t>
            </a:r>
            <a:endParaRPr lang="en-US" sz="3000" dirty="0"/>
          </a:p>
        </p:txBody>
      </p:sp>
      <p:sp>
        <p:nvSpPr>
          <p:cNvPr id="3" name="Shape 1"/>
          <p:cNvSpPr/>
          <p:nvPr/>
        </p:nvSpPr>
        <p:spPr>
          <a:xfrm>
            <a:off x="502920" y="1234440"/>
            <a:ext cx="6583680" cy="4160520"/>
          </a:xfrm>
          <a:prstGeom prst="roundRect">
            <a:avLst>
              <a:gd name="adj" fmla="val 1758"/>
            </a:avLst>
          </a:prstGeom>
          <a:solidFill>
            <a:srgbClr val="F0F4FB"/>
          </a:solidFill>
          <a:ln/>
        </p:spPr>
      </p:sp>
      <p:sp>
        <p:nvSpPr>
          <p:cNvPr id="4" name="Text 2"/>
          <p:cNvSpPr/>
          <p:nvPr/>
        </p:nvSpPr>
        <p:spPr>
          <a:xfrm>
            <a:off x="777240" y="1463040"/>
            <a:ext cx="6035040" cy="3749040"/>
          </a:xfrm>
          <a:prstGeom prst="rect">
            <a:avLst/>
          </a:prstGeom>
          <a:noFill/>
          <a:ln/>
        </p:spPr>
        <p:txBody>
          <a:bodyPr wrap="square" lIns="0" tIns="0" rIns="0" bIns="0" rtlCol="0" anchor="t"/>
          <a:lstStyle/>
          <a:p>
            <a:pPr indent="0" marL="0">
              <a:buNone/>
            </a:pPr>
            <a:r>
              <a:rPr lang="en-US" sz="1600" b="1" dirty="0">
                <a:solidFill>
                  <a:srgbClr val="1A1E2E"/>
                </a:solidFill>
                <a:latin typeface="Calibri" pitchFamily="34" charset="0"/>
                <a:ea typeface="Calibri" pitchFamily="34" charset="-122"/>
                <a:cs typeface="Calibri" pitchFamily="34" charset="-120"/>
              </a:rPr>
              <a:t>Master problem (binary z, continuous w)
</a:t>
            </a:r>
            <a:pPr indent="0" marL="0">
              <a:buNone/>
            </a:pPr>
            <a:r>
              <a:rPr lang="en-US" sz="1450" dirty="0">
                <a:solidFill>
                  <a:srgbClr val="1E2761"/>
                </a:solidFill>
                <a:latin typeface="Calibri" pitchFamily="34" charset="0"/>
                <a:ea typeface="Calibri" pitchFamily="34" charset="-122"/>
                <a:cs typeface="Calibri" pitchFamily="34" charset="-120"/>
              </a:rPr>
              <a:t>min  w'Σw − λ_ret μ'w + c'|w − w_prev| + w_cvar·CVaR_α(−Rw)
</a:t>
            </a:r>
            <a:pPr indent="0" marL="0">
              <a:buNone/>
            </a:pPr>
            <a:r>
              <a:rPr lang="en-US" sz="1450" dirty="0">
                <a:solidFill>
                  <a:srgbClr val="1A1E2E"/>
                </a:solidFill>
                <a:latin typeface="Calibri" pitchFamily="34" charset="0"/>
                <a:ea typeface="Calibri" pitchFamily="34" charset="-122"/>
                <a:cs typeface="Calibri" pitchFamily="34" charset="-120"/>
              </a:rPr>
              <a:t>s.t.  1'w = 1   ·   0 ≤ w ≤ W_max·z   ·   w ≥ w_min·z
</a:t>
            </a:r>
            <a:pPr indent="0" marL="0">
              <a:buNone/>
            </a:pPr>
            <a:r>
              <a:rPr lang="en-US" sz="1450" dirty="0">
                <a:solidFill>
                  <a:srgbClr val="1A1E2E"/>
                </a:solidFill>
                <a:latin typeface="Calibri" pitchFamily="34" charset="0"/>
                <a:ea typeface="Calibri" pitchFamily="34" charset="-122"/>
                <a:cs typeface="Calibri" pitchFamily="34" charset="-120"/>
              </a:rPr>
              <a:t>      1'z = K (cardinality)   ·   z ∈ {0,1}^N
</a:t>
            </a:r>
            <a:pPr indent="0" marL="0">
              <a:buNone/>
            </a:pPr>
            <a:r>
              <a:rPr lang="en-US" sz="1450" dirty="0">
                <a:solidFill>
                  <a:srgbClr val="1A1E2E"/>
                </a:solidFill>
                <a:latin typeface="Calibri" pitchFamily="34" charset="0"/>
                <a:ea typeface="Calibri" pitchFamily="34" charset="-122"/>
                <a:cs typeface="Calibri" pitchFamily="34" charset="-120"/>
              </a:rPr>
              <a:t>      class caps S·w ≤ c   ·   income y'w ≥ floor
</a:t>
            </a:r>
            <a:pPr indent="0" marL="0">
              <a:buNone/>
            </a:pPr>
            <a:r>
              <a:rPr lang="en-US" sz="1350" i="1" dirty="0">
                <a:solidFill>
                  <a:srgbClr val="5A6478"/>
                </a:solidFill>
                <a:latin typeface="Calibri" pitchFamily="34" charset="0"/>
                <a:ea typeface="Calibri" pitchFamily="34" charset="-122"/>
                <a:cs typeface="Calibri" pitchFamily="34" charset="-120"/>
              </a:rPr>
              <a:t>Quadratic objective, linear constraints, binary decisions — the cardinality constraint makes it NP-hard.</a:t>
            </a:r>
            <a:endParaRPr lang="en-US" sz="1600" dirty="0"/>
          </a:p>
        </p:txBody>
      </p:sp>
      <p:sp>
        <p:nvSpPr>
          <p:cNvPr id="5" name="Shape 3"/>
          <p:cNvSpPr/>
          <p:nvPr/>
        </p:nvSpPr>
        <p:spPr>
          <a:xfrm>
            <a:off x="7452360" y="1234440"/>
            <a:ext cx="4206240" cy="4160520"/>
          </a:xfrm>
          <a:prstGeom prst="roundRect">
            <a:avLst>
              <a:gd name="adj" fmla="val 1758"/>
            </a:avLst>
          </a:prstGeom>
          <a:solidFill>
            <a:srgbClr val="CADCFC"/>
          </a:solidFill>
          <a:ln/>
        </p:spPr>
      </p:sp>
      <p:sp>
        <p:nvSpPr>
          <p:cNvPr id="6" name="Text 4"/>
          <p:cNvSpPr/>
          <p:nvPr/>
        </p:nvSpPr>
        <p:spPr>
          <a:xfrm>
            <a:off x="7635240" y="1691640"/>
            <a:ext cx="3840480" cy="868680"/>
          </a:xfrm>
          <a:prstGeom prst="rect">
            <a:avLst/>
          </a:prstGeom>
          <a:noFill/>
          <a:ln/>
        </p:spPr>
        <p:txBody>
          <a:bodyPr wrap="square" lIns="0" tIns="0" rIns="0" bIns="0" rtlCol="0" anchor="ctr"/>
          <a:lstStyle/>
          <a:p>
            <a:pPr algn="ctr" indent="0" marL="0">
              <a:buNone/>
            </a:pPr>
            <a:r>
              <a:rPr lang="en-US" sz="4000" b="1" dirty="0">
                <a:solidFill>
                  <a:srgbClr val="1E2761"/>
                </a:solidFill>
                <a:latin typeface="Calibri" pitchFamily="34" charset="0"/>
                <a:ea typeface="Calibri" pitchFamily="34" charset="-122"/>
                <a:cs typeface="Calibri" pitchFamily="34" charset="-120"/>
              </a:rPr>
              <a:t>5.4 × 10^20</a:t>
            </a:r>
            <a:endParaRPr lang="en-US" sz="4000" dirty="0"/>
          </a:p>
        </p:txBody>
      </p:sp>
      <p:sp>
        <p:nvSpPr>
          <p:cNvPr id="7" name="Text 5"/>
          <p:cNvSpPr/>
          <p:nvPr/>
        </p:nvSpPr>
        <p:spPr>
          <a:xfrm>
            <a:off x="7635240" y="2532888"/>
            <a:ext cx="384048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feasible portfolios at N=100, K=20 — C(100,20)</a:t>
            </a:r>
            <a:endParaRPr lang="en-US" sz="1250" dirty="0"/>
          </a:p>
        </p:txBody>
      </p:sp>
      <p:sp>
        <p:nvSpPr>
          <p:cNvPr id="8" name="Text 6"/>
          <p:cNvSpPr/>
          <p:nvPr/>
        </p:nvSpPr>
        <p:spPr>
          <a:xfrm>
            <a:off x="7635240" y="3291840"/>
            <a:ext cx="3840480" cy="868680"/>
          </a:xfrm>
          <a:prstGeom prst="rect">
            <a:avLst/>
          </a:prstGeom>
          <a:noFill/>
          <a:ln/>
        </p:spPr>
        <p:txBody>
          <a:bodyPr wrap="square" lIns="0" tIns="0" rIns="0" bIns="0" rtlCol="0" anchor="ctr"/>
          <a:lstStyle/>
          <a:p>
            <a:pPr algn="ctr" indent="0" marL="0">
              <a:buNone/>
            </a:pPr>
            <a:r>
              <a:rPr lang="en-US" sz="4000" b="1" dirty="0">
                <a:solidFill>
                  <a:srgbClr val="1E2761"/>
                </a:solidFill>
                <a:latin typeface="Calibri" pitchFamily="34" charset="0"/>
                <a:ea typeface="Calibri" pitchFamily="34" charset="-122"/>
                <a:cs typeface="Calibri" pitchFamily="34" charset="-120"/>
              </a:rPr>
              <a:t>10 classes</a:t>
            </a:r>
            <a:endParaRPr lang="en-US" sz="4000" dirty="0"/>
          </a:p>
        </p:txBody>
      </p:sp>
      <p:sp>
        <p:nvSpPr>
          <p:cNvPr id="9" name="Text 7"/>
          <p:cNvSpPr/>
          <p:nvPr/>
        </p:nvSpPr>
        <p:spPr>
          <a:xfrm>
            <a:off x="7635240" y="4133088"/>
            <a:ext cx="384048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multi-asset universe: equities, bonds, high yield, commodities, REITs, alts</a:t>
            </a:r>
            <a:endParaRPr lang="en-US" sz="1250" dirty="0"/>
          </a:p>
        </p:txBody>
      </p:sp>
      <p:sp>
        <p:nvSpPr>
          <p:cNvPr id="10" name="Text 8"/>
          <p:cNvSpPr/>
          <p:nvPr/>
        </p:nvSpPr>
        <p:spPr>
          <a:xfrm>
            <a:off x="502920" y="5715000"/>
            <a:ext cx="11155680" cy="640080"/>
          </a:xfrm>
          <a:prstGeom prst="rect">
            <a:avLst/>
          </a:prstGeom>
          <a:noFill/>
          <a:ln/>
        </p:spPr>
        <p:txBody>
          <a:bodyPr wrap="square" lIns="0" tIns="0" rIns="0" bIns="0" rtlCol="0" anchor="ctr"/>
          <a:lstStyle/>
          <a:p>
            <a:pPr indent="0" marL="0">
              <a:buNone/>
            </a:pPr>
            <a:r>
              <a:rPr lang="en-US" sz="1300" dirty="0">
                <a:solidFill>
                  <a:srgbClr val="5A6478"/>
                </a:solidFill>
                <a:latin typeface="Calibri" pitchFamily="34" charset="0"/>
                <a:ea typeface="Calibri" pitchFamily="34" charset="-122"/>
                <a:cs typeface="Calibri" pitchFamily="34" charset="-120"/>
              </a:rPr>
              <a:t>Synthetic multi-asset data: returns, volatilities, hierarchical correlation, transaction costs, income yields — all seeded and reproducible.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Architecture: Four Pillars, One Handshake</a:t>
            </a:r>
            <a:endParaRPr lang="en-US" sz="3000" dirty="0"/>
          </a:p>
        </p:txBody>
      </p:sp>
      <p:sp>
        <p:nvSpPr>
          <p:cNvPr id="3" name="Shape 1"/>
          <p:cNvSpPr/>
          <p:nvPr/>
        </p:nvSpPr>
        <p:spPr>
          <a:xfrm>
            <a:off x="502920" y="1371600"/>
            <a:ext cx="2697480" cy="3291840"/>
          </a:xfrm>
          <a:prstGeom prst="roundRect">
            <a:avLst>
              <a:gd name="adj" fmla="val 2712"/>
            </a:avLst>
          </a:prstGeom>
          <a:solidFill>
            <a:srgbClr val="F0F4FB"/>
          </a:solidFill>
          <a:ln/>
        </p:spPr>
      </p:sp>
      <p:sp>
        <p:nvSpPr>
          <p:cNvPr id="4" name="Text 2"/>
          <p:cNvSpPr/>
          <p:nvPr/>
        </p:nvSpPr>
        <p:spPr>
          <a:xfrm>
            <a:off x="685800" y="1554480"/>
            <a:ext cx="2331720" cy="7772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1 · HRP Decomposition</a:t>
            </a:r>
            <a:endParaRPr lang="en-US" sz="1550" dirty="0"/>
          </a:p>
        </p:txBody>
      </p:sp>
      <p:sp>
        <p:nvSpPr>
          <p:cNvPr id="5" name="Text 3"/>
          <p:cNvSpPr/>
          <p:nvPr/>
        </p:nvSpPr>
        <p:spPr>
          <a:xfrm>
            <a:off x="685800" y="2331720"/>
            <a:ext cx="2331720" cy="219456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Ward clustering on correlation distance carves N=100 into 9 clusters (≤20 assets). 96% class purity. Budgets ∝ inverse cluster risk.</a:t>
            </a:r>
            <a:endParaRPr lang="en-US" sz="1250" dirty="0"/>
          </a:p>
        </p:txBody>
      </p:sp>
      <p:sp>
        <p:nvSpPr>
          <p:cNvPr id="6" name="Text 4"/>
          <p:cNvSpPr/>
          <p:nvPr/>
        </p:nvSpPr>
        <p:spPr>
          <a:xfrm>
            <a:off x="3200400" y="2743200"/>
            <a:ext cx="274320" cy="457200"/>
          </a:xfrm>
          <a:prstGeom prst="rect">
            <a:avLst/>
          </a:prstGeom>
          <a:noFill/>
          <a:ln/>
        </p:spPr>
        <p:txBody>
          <a:bodyPr wrap="square" lIns="0" tIns="0" rIns="0" bIns="0" rtlCol="0" anchor="ctr"/>
          <a:lstStyle/>
          <a:p>
            <a:pPr algn="ctr" indent="0" marL="0">
              <a:buNone/>
            </a:pPr>
            <a:r>
              <a:rPr lang="en-US" sz="2200" b="1" dirty="0">
                <a:solidFill>
                  <a:srgbClr val="1E2761"/>
                </a:solidFill>
              </a:rPr>
              <a:t>→</a:t>
            </a:r>
            <a:endParaRPr lang="en-US" sz="2200" dirty="0"/>
          </a:p>
        </p:txBody>
      </p:sp>
      <p:sp>
        <p:nvSpPr>
          <p:cNvPr id="7" name="Shape 5"/>
          <p:cNvSpPr/>
          <p:nvPr/>
        </p:nvSpPr>
        <p:spPr>
          <a:xfrm>
            <a:off x="3456432" y="1371600"/>
            <a:ext cx="2697480" cy="3291840"/>
          </a:xfrm>
          <a:prstGeom prst="roundRect">
            <a:avLst>
              <a:gd name="adj" fmla="val 2712"/>
            </a:avLst>
          </a:prstGeom>
          <a:solidFill>
            <a:srgbClr val="F0F4FB"/>
          </a:solidFill>
          <a:ln/>
        </p:spPr>
      </p:sp>
      <p:sp>
        <p:nvSpPr>
          <p:cNvPr id="8" name="Text 6"/>
          <p:cNvSpPr/>
          <p:nvPr/>
        </p:nvSpPr>
        <p:spPr>
          <a:xfrm>
            <a:off x="3639312" y="1554480"/>
            <a:ext cx="2331720" cy="7772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2 · ADMM Coordinator</a:t>
            </a:r>
            <a:endParaRPr lang="en-US" sz="1550" dirty="0"/>
          </a:p>
        </p:txBody>
      </p:sp>
      <p:sp>
        <p:nvSpPr>
          <p:cNvPr id="9" name="Text 7"/>
          <p:cNvSpPr/>
          <p:nvPr/>
        </p:nvSpPr>
        <p:spPr>
          <a:xfrm>
            <a:off x="3639312" y="2331720"/>
            <a:ext cx="2331720" cy="219456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x → z → u loop per cluster with adaptive ρ (residual balancing, μ=10, τ=2). Converged 9/9 clusters to residual ~10⁻⁵.</a:t>
            </a:r>
            <a:endParaRPr lang="en-US" sz="1250" dirty="0"/>
          </a:p>
        </p:txBody>
      </p:sp>
      <p:sp>
        <p:nvSpPr>
          <p:cNvPr id="10" name="Text 8"/>
          <p:cNvSpPr/>
          <p:nvPr/>
        </p:nvSpPr>
        <p:spPr>
          <a:xfrm>
            <a:off x="6153912" y="2743200"/>
            <a:ext cx="274320" cy="457200"/>
          </a:xfrm>
          <a:prstGeom prst="rect">
            <a:avLst/>
          </a:prstGeom>
          <a:noFill/>
          <a:ln/>
        </p:spPr>
        <p:txBody>
          <a:bodyPr wrap="square" lIns="0" tIns="0" rIns="0" bIns="0" rtlCol="0" anchor="ctr"/>
          <a:lstStyle/>
          <a:p>
            <a:pPr algn="ctr" indent="0" marL="0">
              <a:buNone/>
            </a:pPr>
            <a:r>
              <a:rPr lang="en-US" sz="2200" b="1" dirty="0">
                <a:solidFill>
                  <a:srgbClr val="1E2761"/>
                </a:solidFill>
              </a:rPr>
              <a:t>→</a:t>
            </a:r>
            <a:endParaRPr lang="en-US" sz="2200" dirty="0"/>
          </a:p>
        </p:txBody>
      </p:sp>
      <p:sp>
        <p:nvSpPr>
          <p:cNvPr id="11" name="Shape 9"/>
          <p:cNvSpPr/>
          <p:nvPr/>
        </p:nvSpPr>
        <p:spPr>
          <a:xfrm>
            <a:off x="6409944" y="1371600"/>
            <a:ext cx="2697480" cy="3291840"/>
          </a:xfrm>
          <a:prstGeom prst="roundRect">
            <a:avLst>
              <a:gd name="adj" fmla="val 2712"/>
            </a:avLst>
          </a:prstGeom>
          <a:solidFill>
            <a:srgbClr val="F0F4FB"/>
          </a:solidFill>
          <a:ln/>
        </p:spPr>
      </p:sp>
      <p:sp>
        <p:nvSpPr>
          <p:cNvPr id="12" name="Text 10"/>
          <p:cNvSpPr/>
          <p:nvPr/>
        </p:nvSpPr>
        <p:spPr>
          <a:xfrm>
            <a:off x="6592824" y="1554480"/>
            <a:ext cx="2331720" cy="7772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3 · Classical x-step</a:t>
            </a:r>
            <a:endParaRPr lang="en-US" sz="1550" dirty="0"/>
          </a:p>
        </p:txBody>
      </p:sp>
      <p:sp>
        <p:nvSpPr>
          <p:cNvPr id="13" name="Text 11"/>
          <p:cNvSpPr/>
          <p:nvPr/>
        </p:nvSpPr>
        <p:spPr>
          <a:xfrm>
            <a:off x="6592824" y="2331720"/>
            <a:ext cx="2331720" cy="219456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CVXPY convex QP: risk, return, L1 transaction costs + ADMM anchor. Certifiable optimum every iteration.</a:t>
            </a:r>
            <a:endParaRPr lang="en-US" sz="1250" dirty="0"/>
          </a:p>
        </p:txBody>
      </p:sp>
      <p:sp>
        <p:nvSpPr>
          <p:cNvPr id="14" name="Text 12"/>
          <p:cNvSpPr/>
          <p:nvPr/>
        </p:nvSpPr>
        <p:spPr>
          <a:xfrm>
            <a:off x="9107424" y="2743200"/>
            <a:ext cx="274320" cy="457200"/>
          </a:xfrm>
          <a:prstGeom prst="rect">
            <a:avLst/>
          </a:prstGeom>
          <a:noFill/>
          <a:ln/>
        </p:spPr>
        <p:txBody>
          <a:bodyPr wrap="square" lIns="0" tIns="0" rIns="0" bIns="0" rtlCol="0" anchor="ctr"/>
          <a:lstStyle/>
          <a:p>
            <a:pPr algn="ctr" indent="0" marL="0">
              <a:buNone/>
            </a:pPr>
            <a:r>
              <a:rPr lang="en-US" sz="2200" b="1" dirty="0">
                <a:solidFill>
                  <a:srgbClr val="1E2761"/>
                </a:solidFill>
              </a:rPr>
              <a:t>→</a:t>
            </a:r>
            <a:endParaRPr lang="en-US" sz="2200" dirty="0"/>
          </a:p>
        </p:txBody>
      </p:sp>
      <p:sp>
        <p:nvSpPr>
          <p:cNvPr id="15" name="Shape 13"/>
          <p:cNvSpPr/>
          <p:nvPr/>
        </p:nvSpPr>
        <p:spPr>
          <a:xfrm>
            <a:off x="9363456" y="1371600"/>
            <a:ext cx="2697480" cy="3291840"/>
          </a:xfrm>
          <a:prstGeom prst="roundRect">
            <a:avLst>
              <a:gd name="adj" fmla="val 2712"/>
            </a:avLst>
          </a:prstGeom>
          <a:solidFill>
            <a:srgbClr val="F0F4FB"/>
          </a:solidFill>
          <a:ln/>
        </p:spPr>
      </p:sp>
      <p:sp>
        <p:nvSpPr>
          <p:cNvPr id="16" name="Text 14"/>
          <p:cNvSpPr/>
          <p:nvPr/>
        </p:nvSpPr>
        <p:spPr>
          <a:xfrm>
            <a:off x="9546336" y="1554480"/>
            <a:ext cx="2331720" cy="777240"/>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4 · Quantum z-step</a:t>
            </a:r>
            <a:endParaRPr lang="en-US" sz="1550" dirty="0"/>
          </a:p>
        </p:txBody>
      </p:sp>
      <p:sp>
        <p:nvSpPr>
          <p:cNvPr id="17" name="Text 15"/>
          <p:cNvSpPr/>
          <p:nvPr/>
        </p:nvSpPr>
        <p:spPr>
          <a:xfrm>
            <a:off x="9546336" y="2331720"/>
            <a:ext cx="2331720" cy="219456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Penalty-free QAOA+ on HRP-compiled tree mixers. ADMM term folds into the Ising field — linear in z, zero extra gates.</a:t>
            </a:r>
            <a:endParaRPr lang="en-US" sz="1250" dirty="0"/>
          </a:p>
        </p:txBody>
      </p:sp>
      <p:sp>
        <p:nvSpPr>
          <p:cNvPr id="18" name="Shape 16"/>
          <p:cNvSpPr/>
          <p:nvPr/>
        </p:nvSpPr>
        <p:spPr>
          <a:xfrm>
            <a:off x="502920" y="4983480"/>
            <a:ext cx="11183112" cy="1234440"/>
          </a:xfrm>
          <a:prstGeom prst="roundRect">
            <a:avLst>
              <a:gd name="adj" fmla="val 5926"/>
            </a:avLst>
          </a:prstGeom>
          <a:solidFill>
            <a:srgbClr val="CADCFC"/>
          </a:solidFill>
          <a:ln/>
        </p:spPr>
      </p:sp>
      <p:sp>
        <p:nvSpPr>
          <p:cNvPr id="19" name="Text 17"/>
          <p:cNvSpPr/>
          <p:nvPr/>
        </p:nvSpPr>
        <p:spPr>
          <a:xfrm>
            <a:off x="777240" y="5138928"/>
            <a:ext cx="10698480" cy="914400"/>
          </a:xfrm>
          <a:prstGeom prst="rect">
            <a:avLst/>
          </a:prstGeom>
          <a:noFill/>
          <a:ln/>
        </p:spPr>
        <p:txBody>
          <a:bodyPr wrap="square" lIns="0" tIns="0" rIns="0" bIns="0" rtlCol="0" anchor="ctr"/>
          <a:lstStyle/>
          <a:p>
            <a:pPr indent="0" marL="0">
              <a:buNone/>
            </a:pPr>
            <a:r>
              <a:rPr lang="en-US" sz="1400" b="1" dirty="0">
                <a:solidFill>
                  <a:srgbClr val="1A1E2E"/>
                </a:solidFill>
                <a:latin typeface="Calibri" pitchFamily="34" charset="0"/>
                <a:ea typeface="Calibri" pitchFamily="34" charset="-122"/>
                <a:cs typeface="Calibri" pitchFamily="34" charset="-120"/>
              </a:rPr>
              <a:t>Then a global convex polish: </a:t>
            </a:r>
            <a:pPr indent="0" marL="0">
              <a:buNone/>
            </a:pPr>
            <a:r>
              <a:rPr lang="en-US" sz="1400" dirty="0">
                <a:solidFill>
                  <a:srgbClr val="1A1E2E"/>
                </a:solidFill>
                <a:latin typeface="Calibri" pitchFamily="34" charset="0"/>
                <a:ea typeface="Calibri" pitchFamily="34" charset="-122"/>
                <a:cs typeface="Calibri" pitchFamily="34" charset="-120"/>
              </a:rPr>
              <a:t>free weights on the union support against the full covariance, with all guardrails and all four investor goals active. The NP-hard combinatorics live in the quantum layer; everything continuous stays convex and certifiable.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Core Claim: The Constraint Is a Symmetry of the Circuit</a:t>
            </a:r>
            <a:endParaRPr lang="en-US" sz="3000" dirty="0"/>
          </a:p>
        </p:txBody>
      </p:sp>
      <p:sp>
        <p:nvSpPr>
          <p:cNvPr id="3" name="Text 1"/>
          <p:cNvSpPr/>
          <p:nvPr/>
        </p:nvSpPr>
        <p:spPr>
          <a:xfrm>
            <a:off x="502920" y="1325880"/>
            <a:ext cx="11155680" cy="7772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Textbook approach adds a penalty:  </a:t>
            </a:r>
            <a:pPr indent="0" marL="0">
              <a:buNone/>
            </a:pPr>
            <a:r>
              <a:rPr lang="en-US" sz="1600" b="1" dirty="0">
                <a:solidFill>
                  <a:srgbClr val="FF8A80"/>
                </a:solidFill>
                <a:latin typeface="Calibri" pitchFamily="34" charset="0"/>
                <a:ea typeface="Calibri" pitchFamily="34" charset="-122"/>
                <a:cs typeface="Calibri" pitchFamily="34" charset="-120"/>
              </a:rPr>
              <a:t>λ(1'z − K)²</a:t>
            </a:r>
            <a:pPr indent="0" marL="0">
              <a:buNone/>
            </a:pPr>
            <a:r>
              <a:rPr lang="en-US" sz="1600" dirty="0">
                <a:solidFill>
                  <a:srgbClr val="CADCFC"/>
                </a:solidFill>
                <a:latin typeface="Calibri" pitchFamily="34" charset="0"/>
                <a:ea typeface="Calibri" pitchFamily="34" charset="-122"/>
                <a:cs typeface="Calibri" pitchFamily="34" charset="-120"/>
              </a:rPr>
              <a:t>  — a knob that must be tuned, and every mis-tuning either leaks the constraint or drowns the market signal.</a:t>
            </a:r>
            <a:endParaRPr lang="en-US" sz="1600" dirty="0"/>
          </a:p>
        </p:txBody>
      </p:sp>
      <p:sp>
        <p:nvSpPr>
          <p:cNvPr id="4" name="Text 2"/>
          <p:cNvSpPr/>
          <p:nvPr/>
        </p:nvSpPr>
        <p:spPr>
          <a:xfrm>
            <a:off x="502920" y="2240280"/>
            <a:ext cx="6858000" cy="32918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We delete the penalty entirely.
</a:t>
            </a:r>
            <a:pPr indent="0" marL="0">
              <a:buNone/>
            </a:pPr>
            <a:r>
              <a:rPr lang="en-US" sz="1500" dirty="0">
                <a:solidFill>
                  <a:srgbClr val="CADCFC"/>
                </a:solidFill>
                <a:latin typeface="Calibri" pitchFamily="34" charset="0"/>
                <a:ea typeface="Calibri" pitchFamily="34" charset="-122"/>
                <a:cs typeface="Calibri" pitchFamily="34" charset="-120"/>
              </a:rPr>
              <a:t>•  Start in the Dicke state — uniform superposition over ALL weight-K portfolios
</a:t>
            </a:r>
            <a:pPr indent="0" marL="0">
              <a:buNone/>
            </a:pPr>
            <a:r>
              <a:rPr lang="en-US" sz="1500" dirty="0">
                <a:solidFill>
                  <a:srgbClr val="CADCFC"/>
                </a:solidFill>
                <a:latin typeface="Calibri" pitchFamily="34" charset="0"/>
                <a:ea typeface="Calibri" pitchFamily="34" charset="-122"/>
                <a:cs typeface="Calibri" pitchFamily="34" charset="-120"/>
              </a:rPr>
              <a:t>•  Mix with XY blocks e^(−iβ(XX+YY)/2) — every gate conserves the number of selected assets
</a:t>
            </a:r>
            <a:pPr indent="0" marL="0">
              <a:buNone/>
            </a:pPr>
            <a:r>
              <a:rPr lang="en-US" sz="1500" dirty="0">
                <a:solidFill>
                  <a:srgbClr val="CADCFC"/>
                </a:solidFill>
                <a:latin typeface="Calibri" pitchFamily="34" charset="0"/>
                <a:ea typeface="Calibri" pitchFamily="34" charset="-122"/>
                <a:cs typeface="Calibri" pitchFamily="34" charset="-120"/>
              </a:rPr>
              <a:t>•  Phase-separate with the pure mean-variance Hamiltonian — couplings are market structure, nothing else</a:t>
            </a:r>
            <a:endParaRPr lang="en-US" sz="2000" dirty="0"/>
          </a:p>
        </p:txBody>
      </p:sp>
      <p:sp>
        <p:nvSpPr>
          <p:cNvPr id="5" name="Shape 3"/>
          <p:cNvSpPr/>
          <p:nvPr/>
        </p:nvSpPr>
        <p:spPr>
          <a:xfrm>
            <a:off x="7772400" y="2240280"/>
            <a:ext cx="3886200" cy="3931920"/>
          </a:xfrm>
          <a:prstGeom prst="roundRect">
            <a:avLst>
              <a:gd name="adj" fmla="val 1882"/>
            </a:avLst>
          </a:prstGeom>
          <a:solidFill>
            <a:srgbClr val="27335F"/>
          </a:solidFill>
          <a:ln/>
        </p:spPr>
      </p:sp>
      <p:sp>
        <p:nvSpPr>
          <p:cNvPr id="6" name="Text 4"/>
          <p:cNvSpPr/>
          <p:nvPr/>
        </p:nvSpPr>
        <p:spPr>
          <a:xfrm>
            <a:off x="7955280" y="2514600"/>
            <a:ext cx="3520440" cy="868680"/>
          </a:xfrm>
          <a:prstGeom prst="rect">
            <a:avLst/>
          </a:prstGeom>
          <a:noFill/>
          <a:ln/>
        </p:spPr>
        <p:txBody>
          <a:bodyPr wrap="square" lIns="0" tIns="0" rIns="0" bIns="0" rtlCol="0" anchor="ctr"/>
          <a:lstStyle/>
          <a:p>
            <a:pPr algn="ctr" indent="0" marL="0">
              <a:buNone/>
            </a:pPr>
            <a:r>
              <a:rPr lang="en-US" sz="4000" b="1" dirty="0">
                <a:solidFill>
                  <a:srgbClr val="02C39A"/>
                </a:solidFill>
                <a:latin typeface="Calibri" pitchFamily="34" charset="0"/>
                <a:ea typeface="Calibri" pitchFamily="34" charset="-122"/>
                <a:cs typeface="Calibri" pitchFamily="34" charset="-120"/>
              </a:rPr>
              <a:t>10⁻³³</a:t>
            </a:r>
            <a:endParaRPr lang="en-US" sz="4000" dirty="0"/>
          </a:p>
        </p:txBody>
      </p:sp>
      <p:sp>
        <p:nvSpPr>
          <p:cNvPr id="7" name="Text 5"/>
          <p:cNvSpPr/>
          <p:nvPr/>
        </p:nvSpPr>
        <p:spPr>
          <a:xfrm>
            <a:off x="7955280" y="3355848"/>
            <a:ext cx="3520440" cy="685800"/>
          </a:xfrm>
          <a:prstGeom prst="rect">
            <a:avLst/>
          </a:prstGeom>
          <a:noFill/>
          <a:ln/>
        </p:spPr>
        <p:txBody>
          <a:bodyPr wrap="square" lIns="0" tIns="0" rIns="0" bIns="0"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measured probability of an illegal portfolio, at random circuit parameters</a:t>
            </a:r>
            <a:endParaRPr lang="en-US" sz="1250" dirty="0"/>
          </a:p>
        </p:txBody>
      </p:sp>
      <p:sp>
        <p:nvSpPr>
          <p:cNvPr id="8" name="Text 6"/>
          <p:cNvSpPr/>
          <p:nvPr/>
        </p:nvSpPr>
        <p:spPr>
          <a:xfrm>
            <a:off x="7955280" y="4160520"/>
            <a:ext cx="3520440" cy="868680"/>
          </a:xfrm>
          <a:prstGeom prst="rect">
            <a:avLst/>
          </a:prstGeom>
          <a:noFill/>
          <a:ln/>
        </p:spPr>
        <p:txBody>
          <a:bodyPr wrap="square" lIns="0" tIns="0" rIns="0" bIns="0" rtlCol="0" anchor="ctr"/>
          <a:lstStyle/>
          <a:p>
            <a:pPr algn="ctr" indent="0" marL="0">
              <a:buNone/>
            </a:pPr>
            <a:r>
              <a:rPr lang="en-US" sz="4000" b="1" dirty="0">
                <a:solidFill>
                  <a:srgbClr val="02C39A"/>
                </a:solidFill>
                <a:latin typeface="Calibri" pitchFamily="34" charset="0"/>
                <a:ea typeface="Calibri" pitchFamily="34" charset="-122"/>
                <a:cs typeface="Calibri" pitchFamily="34" charset="-120"/>
              </a:rPr>
              <a:t>100%</a:t>
            </a:r>
            <a:endParaRPr lang="en-US" sz="4000" dirty="0"/>
          </a:p>
        </p:txBody>
      </p:sp>
      <p:sp>
        <p:nvSpPr>
          <p:cNvPr id="9" name="Text 7"/>
          <p:cNvSpPr/>
          <p:nvPr/>
        </p:nvSpPr>
        <p:spPr>
          <a:xfrm>
            <a:off x="7955280" y="5001768"/>
            <a:ext cx="3520440" cy="685800"/>
          </a:xfrm>
          <a:prstGeom prst="rect">
            <a:avLst/>
          </a:prstGeom>
          <a:noFill/>
          <a:ln/>
        </p:spPr>
        <p:txBody>
          <a:bodyPr wrap="square" lIns="0" tIns="0" rIns="0" bIns="0"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feasible shots — for every γ, β, every depth, Trotterization included</a:t>
            </a:r>
            <a:endParaRPr lang="en-US" sz="1250" dirty="0"/>
          </a:p>
        </p:txBody>
      </p:sp>
      <p:sp>
        <p:nvSpPr>
          <p:cNvPr id="10" name="Text 8"/>
          <p:cNvSpPr/>
          <p:nvPr/>
        </p:nvSpPr>
        <p:spPr>
          <a:xfrm>
            <a:off x="502920" y="5897880"/>
            <a:ext cx="6949440" cy="54864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No λ to tune. No feasibility repair. No wasted shots. Verified numerically, not asserted.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Compiler-Level Design: Topology-Matched Tree Mixers</a:t>
            </a:r>
            <a:endParaRPr lang="en-US" sz="3000" dirty="0"/>
          </a:p>
        </p:txBody>
      </p:sp>
      <p:sp>
        <p:nvSpPr>
          <p:cNvPr id="3" name="Text 1"/>
          <p:cNvSpPr/>
          <p:nvPr/>
        </p:nvSpPr>
        <p:spPr>
          <a:xfrm>
            <a:off x="502920" y="1325880"/>
            <a:ext cx="6675120" cy="4206240"/>
          </a:xfrm>
          <a:prstGeom prst="rect">
            <a:avLst/>
          </a:prstGeom>
          <a:noFill/>
          <a:ln/>
        </p:spPr>
        <p:txBody>
          <a:bodyPr wrap="square" lIns="0" tIns="0" rIns="0" bIns="0" rtlCol="0" anchor="t"/>
          <a:lstStyle/>
          <a:p>
            <a:pPr indent="0" marL="0">
              <a:buNone/>
            </a:pPr>
            <a:r>
              <a:rPr lang="en-US" sz="1600" b="1" dirty="0">
                <a:solidFill>
                  <a:srgbClr val="1A1E2E"/>
                </a:solidFill>
                <a:latin typeface="Calibri" pitchFamily="34" charset="0"/>
                <a:ea typeface="Calibri" pitchFamily="34" charset="-122"/>
                <a:cs typeface="Calibri" pitchFamily="34" charset="-120"/>
              </a:rPr>
              <a:t>The mixer graph is not generic — it is compiled from the market.
</a:t>
            </a:r>
            <a:pPr indent="0" marL="0">
              <a:buNone/>
            </a:pPr>
            <a:r>
              <a:rPr lang="en-US" sz="1400" dirty="0">
                <a:solidFill>
                  <a:srgbClr val="1A1E2E"/>
                </a:solidFill>
                <a:latin typeface="Calibri" pitchFamily="34" charset="0"/>
                <a:ea typeface="Calibri" pitchFamily="34" charset="-122"/>
                <a:cs typeface="Calibri" pitchFamily="34" charset="-120"/>
              </a:rPr>
              <a:t>Per cluster, the classical layer emits the maximum-correlation spanning tree (BFS-ordered, degree capped at 3 = the heavy-hex lattice degree). XY excitation hops travel between the closest economic substitutes first, and the tree embeds on the chip without SWAP routing.
</a:t>
            </a:r>
            <a:pPr indent="0" marL="0">
              <a:buNone/>
            </a:pPr>
            <a:r>
              <a:rPr lang="en-US" sz="1400" dirty="0">
                <a:solidFill>
                  <a:srgbClr val="1A1E2E"/>
                </a:solidFill>
                <a:latin typeface="Calibri" pitchFamily="34" charset="0"/>
                <a:ea typeface="Calibri" pitchFamily="34" charset="-122"/>
                <a:cs typeface="Calibri" pitchFamily="34" charset="-120"/>
              </a:rPr>
              <a:t>Connectivity keeps every weight-K portfolio reachable; the degree cap turned out to be free — mixer depth dropped to 3 parallel two-qubit layers, matching a ring.</a:t>
            </a:r>
            <a:endParaRPr lang="en-US" sz="1600" dirty="0"/>
          </a:p>
        </p:txBody>
      </p:sp>
      <p:sp>
        <p:nvSpPr>
          <p:cNvPr id="4" name="Shape 2"/>
          <p:cNvSpPr/>
          <p:nvPr/>
        </p:nvSpPr>
        <p:spPr>
          <a:xfrm>
            <a:off x="7589520" y="1325880"/>
            <a:ext cx="4069080" cy="4480560"/>
          </a:xfrm>
          <a:prstGeom prst="roundRect">
            <a:avLst>
              <a:gd name="adj" fmla="val 1798"/>
            </a:avLst>
          </a:prstGeom>
          <a:solidFill>
            <a:srgbClr val="F0F4FB"/>
          </a:solidFill>
          <a:ln/>
        </p:spPr>
      </p:sp>
      <p:sp>
        <p:nvSpPr>
          <p:cNvPr id="5" name="Text 3"/>
          <p:cNvSpPr/>
          <p:nvPr/>
        </p:nvSpPr>
        <p:spPr>
          <a:xfrm>
            <a:off x="7772400" y="1645920"/>
            <a:ext cx="3703320" cy="868680"/>
          </a:xfrm>
          <a:prstGeom prst="rect">
            <a:avLst/>
          </a:prstGeom>
          <a:noFill/>
          <a:ln/>
        </p:spPr>
        <p:txBody>
          <a:bodyPr wrap="square" lIns="0" tIns="0" rIns="0" bIns="0" rtlCol="0" anchor="ctr"/>
          <a:lstStyle/>
          <a:p>
            <a:pPr algn="ctr" indent="0" marL="0">
              <a:buNone/>
            </a:pPr>
            <a:r>
              <a:rPr lang="en-US" sz="4000" b="1" dirty="0">
                <a:solidFill>
                  <a:srgbClr val="1E2761"/>
                </a:solidFill>
                <a:latin typeface="Calibri" pitchFamily="34" charset="0"/>
                <a:ea typeface="Calibri" pitchFamily="34" charset="-122"/>
                <a:cs typeface="Calibri" pitchFamily="34" charset="-120"/>
              </a:rPr>
              <a:t>deg ≤ 3</a:t>
            </a:r>
            <a:endParaRPr lang="en-US" sz="4000" dirty="0"/>
          </a:p>
        </p:txBody>
      </p:sp>
      <p:sp>
        <p:nvSpPr>
          <p:cNvPr id="6" name="Text 4"/>
          <p:cNvSpPr/>
          <p:nvPr/>
        </p:nvSpPr>
        <p:spPr>
          <a:xfrm>
            <a:off x="7772400" y="2487168"/>
            <a:ext cx="370332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every mixer tree embeds on heavy-hex — by construction, all 9 clusters</a:t>
            </a:r>
            <a:endParaRPr lang="en-US" sz="1250" dirty="0"/>
          </a:p>
        </p:txBody>
      </p:sp>
      <p:sp>
        <p:nvSpPr>
          <p:cNvPr id="7" name="Text 5"/>
          <p:cNvSpPr/>
          <p:nvPr/>
        </p:nvSpPr>
        <p:spPr>
          <a:xfrm>
            <a:off x="7772400" y="3063240"/>
            <a:ext cx="3703320" cy="868680"/>
          </a:xfrm>
          <a:prstGeom prst="rect">
            <a:avLst/>
          </a:prstGeom>
          <a:noFill/>
          <a:ln/>
        </p:spPr>
        <p:txBody>
          <a:bodyPr wrap="square" lIns="0" tIns="0" rIns="0" bIns="0" rtlCol="0" anchor="ctr"/>
          <a:lstStyle/>
          <a:p>
            <a:pPr algn="ctr" indent="0" marL="0">
              <a:buNone/>
            </a:pPr>
            <a:r>
              <a:rPr lang="en-US" sz="4000" b="1" dirty="0">
                <a:solidFill>
                  <a:srgbClr val="1E2761"/>
                </a:solidFill>
                <a:latin typeface="Calibri" pitchFamily="34" charset="0"/>
                <a:ea typeface="Calibri" pitchFamily="34" charset="-122"/>
                <a:cs typeface="Calibri" pitchFamily="34" charset="-120"/>
              </a:rPr>
              <a:t>3 layers</a:t>
            </a:r>
            <a:endParaRPr lang="en-US" sz="4000" dirty="0"/>
          </a:p>
        </p:txBody>
      </p:sp>
      <p:sp>
        <p:nvSpPr>
          <p:cNvPr id="8" name="Text 6"/>
          <p:cNvSpPr/>
          <p:nvPr/>
        </p:nvSpPr>
        <p:spPr>
          <a:xfrm>
            <a:off x="7772400" y="3904488"/>
            <a:ext cx="370332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parallel two-qubit slabs per mixer application (was 4–8 uncapped)</a:t>
            </a:r>
            <a:endParaRPr lang="en-US" sz="1250" dirty="0"/>
          </a:p>
        </p:txBody>
      </p:sp>
      <p:sp>
        <p:nvSpPr>
          <p:cNvPr id="9" name="Text 7"/>
          <p:cNvSpPr/>
          <p:nvPr/>
        </p:nvSpPr>
        <p:spPr>
          <a:xfrm>
            <a:off x="502920" y="5760720"/>
            <a:ext cx="11155680" cy="640080"/>
          </a:xfrm>
          <a:prstGeom prst="rect">
            <a:avLst/>
          </a:prstGeom>
          <a:noFill/>
          <a:ln/>
        </p:spPr>
        <p:txBody>
          <a:bodyPr wrap="square" lIns="0" tIns="0" rIns="0" bIns="0" rtlCol="0" anchor="ctr"/>
          <a:lstStyle/>
          <a:p>
            <a:pPr indent="0" marL="0">
              <a:buNone/>
            </a:pPr>
            <a:r>
              <a:rPr lang="en-US" sz="1250" i="1" dirty="0">
                <a:solidFill>
                  <a:srgbClr val="5A6478"/>
                </a:solidFill>
                <a:latin typeface="Calibri" pitchFamily="34" charset="0"/>
                <a:ea typeface="Calibri" pitchFamily="34" charset="-122"/>
                <a:cs typeface="Calibri" pitchFamily="34" charset="-120"/>
              </a:rPr>
              <a:t>Note: the Dicke prep + XY mixer cost real gates — at matched size our circuit is bigger than a penalty circuit. The win is architectural (next slides).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Tunable Investor Goals — Each With a Measured Effect</a:t>
            </a:r>
            <a:endParaRPr lang="en-US" sz="3000" dirty="0"/>
          </a:p>
        </p:txBody>
      </p:sp>
      <p:sp>
        <p:nvSpPr>
          <p:cNvPr id="3" name="Shape 1"/>
          <p:cNvSpPr/>
          <p:nvPr/>
        </p:nvSpPr>
        <p:spPr>
          <a:xfrm>
            <a:off x="502920" y="1371600"/>
            <a:ext cx="2697480" cy="3931920"/>
          </a:xfrm>
          <a:prstGeom prst="roundRect">
            <a:avLst>
              <a:gd name="adj" fmla="val 2712"/>
            </a:avLst>
          </a:prstGeom>
          <a:solidFill>
            <a:srgbClr val="F0F4FB"/>
          </a:solidFill>
          <a:ln/>
        </p:spPr>
      </p:sp>
      <p:sp>
        <p:nvSpPr>
          <p:cNvPr id="4" name="Text 2"/>
          <p:cNvSpPr/>
          <p:nvPr/>
        </p:nvSpPr>
        <p:spPr>
          <a:xfrm>
            <a:off x="685800" y="1600200"/>
            <a:ext cx="2331720" cy="41148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GROWTH</a:t>
            </a:r>
            <a:endParaRPr lang="en-US" sz="1600" dirty="0"/>
          </a:p>
        </p:txBody>
      </p:sp>
      <p:sp>
        <p:nvSpPr>
          <p:cNvPr id="5" name="Text 3"/>
          <p:cNvSpPr/>
          <p:nvPr/>
        </p:nvSpPr>
        <p:spPr>
          <a:xfrm>
            <a:off x="685800" y="2057400"/>
            <a:ext cx="2331720" cy="4572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λ_ret return emphasis</a:t>
            </a:r>
            <a:endParaRPr lang="en-US" sz="1350" dirty="0"/>
          </a:p>
        </p:txBody>
      </p:sp>
      <p:sp>
        <p:nvSpPr>
          <p:cNvPr id="6" name="Text 4"/>
          <p:cNvSpPr/>
          <p:nvPr/>
        </p:nvSpPr>
        <p:spPr>
          <a:xfrm>
            <a:off x="685800" y="2606040"/>
            <a:ext cx="2331720" cy="246888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Sweeps the risk-return trade-off in both layers; frontier traced live in the copilot.</a:t>
            </a:r>
            <a:endParaRPr lang="en-US" sz="1250" dirty="0"/>
          </a:p>
        </p:txBody>
      </p:sp>
      <p:sp>
        <p:nvSpPr>
          <p:cNvPr id="7" name="Shape 5"/>
          <p:cNvSpPr/>
          <p:nvPr/>
        </p:nvSpPr>
        <p:spPr>
          <a:xfrm>
            <a:off x="3456432" y="1371600"/>
            <a:ext cx="2697480" cy="3931920"/>
          </a:xfrm>
          <a:prstGeom prst="roundRect">
            <a:avLst>
              <a:gd name="adj" fmla="val 2712"/>
            </a:avLst>
          </a:prstGeom>
          <a:solidFill>
            <a:srgbClr val="F0F4FB"/>
          </a:solidFill>
          <a:ln/>
        </p:spPr>
      </p:sp>
      <p:sp>
        <p:nvSpPr>
          <p:cNvPr id="8" name="Text 6"/>
          <p:cNvSpPr/>
          <p:nvPr/>
        </p:nvSpPr>
        <p:spPr>
          <a:xfrm>
            <a:off x="3639312" y="1600200"/>
            <a:ext cx="2331720" cy="41148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INCOME</a:t>
            </a:r>
            <a:endParaRPr lang="en-US" sz="1600" dirty="0"/>
          </a:p>
        </p:txBody>
      </p:sp>
      <p:sp>
        <p:nvSpPr>
          <p:cNvPr id="9" name="Text 7"/>
          <p:cNvSpPr/>
          <p:nvPr/>
        </p:nvSpPr>
        <p:spPr>
          <a:xfrm>
            <a:off x="3639312" y="2057400"/>
            <a:ext cx="2331720" cy="4572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y'w ≥ floor</a:t>
            </a:r>
            <a:endParaRPr lang="en-US" sz="1350" dirty="0"/>
          </a:p>
        </p:txBody>
      </p:sp>
      <p:sp>
        <p:nvSpPr>
          <p:cNvPr id="10" name="Text 8"/>
          <p:cNvSpPr/>
          <p:nvPr/>
        </p:nvSpPr>
        <p:spPr>
          <a:xfrm>
            <a:off x="3639312" y="2606040"/>
            <a:ext cx="2331720" cy="246888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2.5% floor → book delivers 2.68% yield. Unattainable floors relax gracefully — flagged, never silent.</a:t>
            </a:r>
            <a:endParaRPr lang="en-US" sz="1250" dirty="0"/>
          </a:p>
        </p:txBody>
      </p:sp>
      <p:sp>
        <p:nvSpPr>
          <p:cNvPr id="11" name="Shape 9"/>
          <p:cNvSpPr/>
          <p:nvPr/>
        </p:nvSpPr>
        <p:spPr>
          <a:xfrm>
            <a:off x="6409944" y="1371600"/>
            <a:ext cx="2697480" cy="3931920"/>
          </a:xfrm>
          <a:prstGeom prst="roundRect">
            <a:avLst>
              <a:gd name="adj" fmla="val 2712"/>
            </a:avLst>
          </a:prstGeom>
          <a:solidFill>
            <a:srgbClr val="F0F4FB"/>
          </a:solidFill>
          <a:ln/>
        </p:spPr>
      </p:sp>
      <p:sp>
        <p:nvSpPr>
          <p:cNvPr id="12" name="Text 10"/>
          <p:cNvSpPr/>
          <p:nvPr/>
        </p:nvSpPr>
        <p:spPr>
          <a:xfrm>
            <a:off x="6592824" y="1600200"/>
            <a:ext cx="2331720" cy="41148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DRAWDOWN</a:t>
            </a:r>
            <a:endParaRPr lang="en-US" sz="1600" dirty="0"/>
          </a:p>
        </p:txBody>
      </p:sp>
      <p:sp>
        <p:nvSpPr>
          <p:cNvPr id="13" name="Text 11"/>
          <p:cNvSpPr/>
          <p:nvPr/>
        </p:nvSpPr>
        <p:spPr>
          <a:xfrm>
            <a:off x="6592824" y="2057400"/>
            <a:ext cx="2331720" cy="4572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CVaR_α scenario penalty</a:t>
            </a:r>
            <a:endParaRPr lang="en-US" sz="1350" dirty="0"/>
          </a:p>
        </p:txBody>
      </p:sp>
      <p:sp>
        <p:nvSpPr>
          <p:cNvPr id="14" name="Text 12"/>
          <p:cNvSpPr/>
          <p:nvPr/>
        </p:nvSpPr>
        <p:spPr>
          <a:xfrm>
            <a:off x="6592824" y="2606040"/>
            <a:ext cx="2331720" cy="246888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Worst-15% monthly scenario loss cut 6.26% → 5.23% (Rockafellar–Uryasev, convex).</a:t>
            </a:r>
            <a:endParaRPr lang="en-US" sz="1250" dirty="0"/>
          </a:p>
        </p:txBody>
      </p:sp>
      <p:sp>
        <p:nvSpPr>
          <p:cNvPr id="15" name="Shape 13"/>
          <p:cNvSpPr/>
          <p:nvPr/>
        </p:nvSpPr>
        <p:spPr>
          <a:xfrm>
            <a:off x="9363456" y="1371600"/>
            <a:ext cx="2697480" cy="3931920"/>
          </a:xfrm>
          <a:prstGeom prst="roundRect">
            <a:avLst>
              <a:gd name="adj" fmla="val 2712"/>
            </a:avLst>
          </a:prstGeom>
          <a:solidFill>
            <a:srgbClr val="F0F4FB"/>
          </a:solidFill>
          <a:ln/>
        </p:spPr>
      </p:sp>
      <p:sp>
        <p:nvSpPr>
          <p:cNvPr id="16" name="Text 14"/>
          <p:cNvSpPr/>
          <p:nvPr/>
        </p:nvSpPr>
        <p:spPr>
          <a:xfrm>
            <a:off x="9546336" y="1600200"/>
            <a:ext cx="2331720" cy="41148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COST</a:t>
            </a:r>
            <a:endParaRPr lang="en-US" sz="1600" dirty="0"/>
          </a:p>
        </p:txBody>
      </p:sp>
      <p:sp>
        <p:nvSpPr>
          <p:cNvPr id="17" name="Text 15"/>
          <p:cNvSpPr/>
          <p:nvPr/>
        </p:nvSpPr>
        <p:spPr>
          <a:xfrm>
            <a:off x="9546336" y="2057400"/>
            <a:ext cx="2331720" cy="4572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t-cost multiplier</a:t>
            </a:r>
            <a:endParaRPr lang="en-US" sz="1350" dirty="0"/>
          </a:p>
        </p:txBody>
      </p:sp>
      <p:sp>
        <p:nvSpPr>
          <p:cNvPr id="18" name="Text 16"/>
          <p:cNvSpPr/>
          <p:nvPr/>
        </p:nvSpPr>
        <p:spPr>
          <a:xfrm>
            <a:off x="9546336" y="2606040"/>
            <a:ext cx="2331720" cy="2468880"/>
          </a:xfrm>
          <a:prstGeom prst="rect">
            <a:avLst/>
          </a:prstGeom>
          <a:noFill/>
          <a:ln/>
        </p:spPr>
        <p:txBody>
          <a:bodyPr wrap="square" lIns="0" tIns="0" rIns="0" bIns="0" rtlCol="0" anchor="t"/>
          <a:lstStyle/>
          <a:p>
            <a:pPr indent="0" marL="0">
              <a:buNone/>
            </a:pPr>
            <a:r>
              <a:rPr lang="en-US" sz="1250" dirty="0">
                <a:solidFill>
                  <a:srgbClr val="1A1E2E"/>
                </a:solidFill>
                <a:latin typeface="Calibri" pitchFamily="34" charset="0"/>
                <a:ea typeface="Calibri" pitchFamily="34" charset="-122"/>
                <a:cs typeface="Calibri" pitchFamily="34" charset="-120"/>
              </a:rPr>
              <a:t>Per-asset linear costs scale up to 5×; optimizer holds the previous book harder.</a:t>
            </a:r>
            <a:endParaRPr lang="en-US" sz="1250" dirty="0"/>
          </a:p>
        </p:txBody>
      </p:sp>
      <p:sp>
        <p:nvSpPr>
          <p:cNvPr id="19" name="Text 17"/>
          <p:cNvSpPr/>
          <p:nvPr/>
        </p:nvSpPr>
        <p:spPr>
          <a:xfrm>
            <a:off x="502920" y="5623560"/>
            <a:ext cx="11155680" cy="54864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All four goals act on the convex capital layer — they never touch the quantum circuit, so feasibility stays guaranteed while goals move.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Measured Outcomes (N=100, K=20, seeded — reproducible)</a:t>
            </a:r>
            <a:endParaRPr lang="en-US" sz="3000" dirty="0"/>
          </a:p>
        </p:txBody>
      </p:sp>
      <p:sp>
        <p:nvSpPr>
          <p:cNvPr id="3" name="Shape 1"/>
          <p:cNvSpPr/>
          <p:nvPr/>
        </p:nvSpPr>
        <p:spPr>
          <a:xfrm>
            <a:off x="502920" y="1371600"/>
            <a:ext cx="2697480" cy="2011680"/>
          </a:xfrm>
          <a:prstGeom prst="roundRect">
            <a:avLst>
              <a:gd name="adj" fmla="val 3636"/>
            </a:avLst>
          </a:prstGeom>
          <a:solidFill>
            <a:srgbClr val="F0F4FB"/>
          </a:solidFill>
          <a:ln/>
        </p:spPr>
      </p:sp>
      <p:sp>
        <p:nvSpPr>
          <p:cNvPr id="4" name="Text 2"/>
          <p:cNvSpPr/>
          <p:nvPr/>
        </p:nvSpPr>
        <p:spPr>
          <a:xfrm>
            <a:off x="594360" y="1600200"/>
            <a:ext cx="2514600" cy="868680"/>
          </a:xfrm>
          <a:prstGeom prst="rect">
            <a:avLst/>
          </a:prstGeom>
          <a:noFill/>
          <a:ln/>
        </p:spPr>
        <p:txBody>
          <a:bodyPr wrap="square" lIns="0" tIns="0" rIns="0" bIns="0" rtlCol="0" anchor="ctr"/>
          <a:lstStyle/>
          <a:p>
            <a:pPr algn="ctr" indent="0" marL="0">
              <a:buNone/>
            </a:pPr>
            <a:r>
              <a:rPr lang="en-US" sz="4000" b="1" dirty="0">
                <a:solidFill>
                  <a:srgbClr val="02C39A"/>
                </a:solidFill>
                <a:latin typeface="Calibri" pitchFamily="34" charset="0"/>
                <a:ea typeface="Calibri" pitchFamily="34" charset="-122"/>
                <a:cs typeface="Calibri" pitchFamily="34" charset="-120"/>
              </a:rPr>
              <a:t>0</a:t>
            </a:r>
            <a:endParaRPr lang="en-US" sz="4000" dirty="0"/>
          </a:p>
        </p:txBody>
      </p:sp>
      <p:sp>
        <p:nvSpPr>
          <p:cNvPr id="5" name="Text 3"/>
          <p:cNvSpPr/>
          <p:nvPr/>
        </p:nvSpPr>
        <p:spPr>
          <a:xfrm>
            <a:off x="594360" y="2441448"/>
            <a:ext cx="251460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hard-guardrail breaches — guaranteed by construction, confirmed by audit</a:t>
            </a:r>
            <a:endParaRPr lang="en-US" sz="1250" dirty="0"/>
          </a:p>
        </p:txBody>
      </p:sp>
      <p:sp>
        <p:nvSpPr>
          <p:cNvPr id="6" name="Shape 4"/>
          <p:cNvSpPr/>
          <p:nvPr/>
        </p:nvSpPr>
        <p:spPr>
          <a:xfrm>
            <a:off x="3456432" y="1371600"/>
            <a:ext cx="2697480" cy="2011680"/>
          </a:xfrm>
          <a:prstGeom prst="roundRect">
            <a:avLst>
              <a:gd name="adj" fmla="val 3636"/>
            </a:avLst>
          </a:prstGeom>
          <a:solidFill>
            <a:srgbClr val="F0F4FB"/>
          </a:solidFill>
          <a:ln/>
        </p:spPr>
      </p:sp>
      <p:sp>
        <p:nvSpPr>
          <p:cNvPr id="7" name="Text 5"/>
          <p:cNvSpPr/>
          <p:nvPr/>
        </p:nvSpPr>
        <p:spPr>
          <a:xfrm>
            <a:off x="3547872" y="1600200"/>
            <a:ext cx="2514600" cy="868680"/>
          </a:xfrm>
          <a:prstGeom prst="rect">
            <a:avLst/>
          </a:prstGeom>
          <a:noFill/>
          <a:ln/>
        </p:spPr>
        <p:txBody>
          <a:bodyPr wrap="square" lIns="0" tIns="0" rIns="0" bIns="0" rtlCol="0" anchor="ctr"/>
          <a:lstStyle/>
          <a:p>
            <a:pPr algn="ctr" indent="0" marL="0">
              <a:buNone/>
            </a:pPr>
            <a:r>
              <a:rPr lang="en-US" sz="4000" b="1" dirty="0">
                <a:solidFill>
                  <a:srgbClr val="1E2761"/>
                </a:solidFill>
                <a:latin typeface="Calibri" pitchFamily="34" charset="0"/>
                <a:ea typeface="Calibri" pitchFamily="34" charset="-122"/>
                <a:cs typeface="Calibri" pitchFamily="34" charset="-120"/>
              </a:rPr>
              <a:t>0.47</a:t>
            </a:r>
            <a:endParaRPr lang="en-US" sz="4000" dirty="0"/>
          </a:p>
        </p:txBody>
      </p:sp>
      <p:sp>
        <p:nvSpPr>
          <p:cNvPr id="8" name="Text 6"/>
          <p:cNvSpPr/>
          <p:nvPr/>
        </p:nvSpPr>
        <p:spPr>
          <a:xfrm>
            <a:off x="3547872" y="2441448"/>
            <a:ext cx="251460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Sharpe, net of transaction costs</a:t>
            </a:r>
            <a:endParaRPr lang="en-US" sz="1250" dirty="0"/>
          </a:p>
        </p:txBody>
      </p:sp>
      <p:sp>
        <p:nvSpPr>
          <p:cNvPr id="9" name="Shape 7"/>
          <p:cNvSpPr/>
          <p:nvPr/>
        </p:nvSpPr>
        <p:spPr>
          <a:xfrm>
            <a:off x="6409944" y="1371600"/>
            <a:ext cx="2697480" cy="2011680"/>
          </a:xfrm>
          <a:prstGeom prst="roundRect">
            <a:avLst>
              <a:gd name="adj" fmla="val 3636"/>
            </a:avLst>
          </a:prstGeom>
          <a:solidFill>
            <a:srgbClr val="F0F4FB"/>
          </a:solidFill>
          <a:ln/>
        </p:spPr>
      </p:sp>
      <p:sp>
        <p:nvSpPr>
          <p:cNvPr id="10" name="Text 8"/>
          <p:cNvSpPr/>
          <p:nvPr/>
        </p:nvSpPr>
        <p:spPr>
          <a:xfrm>
            <a:off x="6501384" y="1600200"/>
            <a:ext cx="2514600" cy="868680"/>
          </a:xfrm>
          <a:prstGeom prst="rect">
            <a:avLst/>
          </a:prstGeom>
          <a:noFill/>
          <a:ln/>
        </p:spPr>
        <p:txBody>
          <a:bodyPr wrap="square" lIns="0" tIns="0" rIns="0" bIns="0" rtlCol="0" anchor="ctr"/>
          <a:lstStyle/>
          <a:p>
            <a:pPr algn="ctr" indent="0" marL="0">
              <a:buNone/>
            </a:pPr>
            <a:r>
              <a:rPr lang="en-US" sz="4000" b="1" dirty="0">
                <a:solidFill>
                  <a:srgbClr val="1E2761"/>
                </a:solidFill>
                <a:latin typeface="Calibri" pitchFamily="34" charset="0"/>
                <a:ea typeface="Calibri" pitchFamily="34" charset="-122"/>
                <a:cs typeface="Calibri" pitchFamily="34" charset="-120"/>
              </a:rPr>
              <a:t>1.0000</a:t>
            </a:r>
            <a:endParaRPr lang="en-US" sz="4000" dirty="0"/>
          </a:p>
        </p:txBody>
      </p:sp>
      <p:sp>
        <p:nvSpPr>
          <p:cNvPr id="11" name="Text 9"/>
          <p:cNvSpPr/>
          <p:nvPr/>
        </p:nvSpPr>
        <p:spPr>
          <a:xfrm>
            <a:off x="6501384" y="2441448"/>
            <a:ext cx="251460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approximation ratio vs certified exhaustive optimum</a:t>
            </a:r>
            <a:endParaRPr lang="en-US" sz="1250" dirty="0"/>
          </a:p>
        </p:txBody>
      </p:sp>
      <p:sp>
        <p:nvSpPr>
          <p:cNvPr id="12" name="Shape 10"/>
          <p:cNvSpPr/>
          <p:nvPr/>
        </p:nvSpPr>
        <p:spPr>
          <a:xfrm>
            <a:off x="9363456" y="1371600"/>
            <a:ext cx="2697480" cy="2011680"/>
          </a:xfrm>
          <a:prstGeom prst="roundRect">
            <a:avLst>
              <a:gd name="adj" fmla="val 3636"/>
            </a:avLst>
          </a:prstGeom>
          <a:solidFill>
            <a:srgbClr val="F0F4FB"/>
          </a:solidFill>
          <a:ln/>
        </p:spPr>
      </p:sp>
      <p:sp>
        <p:nvSpPr>
          <p:cNvPr id="13" name="Text 11"/>
          <p:cNvSpPr/>
          <p:nvPr/>
        </p:nvSpPr>
        <p:spPr>
          <a:xfrm>
            <a:off x="9454896" y="1600200"/>
            <a:ext cx="2514600" cy="868680"/>
          </a:xfrm>
          <a:prstGeom prst="rect">
            <a:avLst/>
          </a:prstGeom>
          <a:noFill/>
          <a:ln/>
        </p:spPr>
        <p:txBody>
          <a:bodyPr wrap="square" lIns="0" tIns="0" rIns="0" bIns="0" rtlCol="0" anchor="ctr"/>
          <a:lstStyle/>
          <a:p>
            <a:pPr algn="ctr" indent="0" marL="0">
              <a:buNone/>
            </a:pPr>
            <a:r>
              <a:rPr lang="en-US" sz="4000" b="1" dirty="0">
                <a:solidFill>
                  <a:srgbClr val="1E2761"/>
                </a:solidFill>
                <a:latin typeface="Calibri" pitchFamily="34" charset="0"/>
                <a:ea typeface="Calibri" pitchFamily="34" charset="-122"/>
                <a:cs typeface="Calibri" pitchFamily="34" charset="-120"/>
              </a:rPr>
              <a:t>34 s</a:t>
            </a:r>
            <a:endParaRPr lang="en-US" sz="4000" dirty="0"/>
          </a:p>
        </p:txBody>
      </p:sp>
      <p:sp>
        <p:nvSpPr>
          <p:cNvPr id="14" name="Text 12"/>
          <p:cNvSpPr/>
          <p:nvPr/>
        </p:nvSpPr>
        <p:spPr>
          <a:xfrm>
            <a:off x="9454896" y="2441448"/>
            <a:ext cx="251460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full pipeline on a laptop, quantum firing in 9/9 clusters</a:t>
            </a:r>
            <a:endParaRPr lang="en-US" sz="1250" dirty="0"/>
          </a:p>
        </p:txBody>
      </p:sp>
      <p:sp>
        <p:nvSpPr>
          <p:cNvPr id="15" name="Shape 13"/>
          <p:cNvSpPr/>
          <p:nvPr/>
        </p:nvSpPr>
        <p:spPr>
          <a:xfrm>
            <a:off x="502920" y="3657600"/>
            <a:ext cx="11558016" cy="2514600"/>
          </a:xfrm>
          <a:prstGeom prst="roundRect">
            <a:avLst>
              <a:gd name="adj" fmla="val 2909"/>
            </a:avLst>
          </a:prstGeom>
          <a:solidFill>
            <a:srgbClr val="F0F4FB"/>
          </a:solidFill>
          <a:ln/>
        </p:spPr>
      </p:sp>
      <p:sp>
        <p:nvSpPr>
          <p:cNvPr id="16" name="Text 14"/>
          <p:cNvSpPr/>
          <p:nvPr/>
        </p:nvSpPr>
        <p:spPr>
          <a:xfrm>
            <a:off x="777240" y="3840480"/>
            <a:ext cx="10972800" cy="2194560"/>
          </a:xfrm>
          <a:prstGeom prst="rect">
            <a:avLst/>
          </a:prstGeom>
          <a:noFill/>
          <a:ln/>
        </p:spPr>
        <p:txBody>
          <a:bodyPr wrap="square" lIns="0" tIns="0" rIns="0" bIns="0" rtlCol="0" anchor="t"/>
          <a:lstStyle/>
          <a:p>
            <a:pPr indent="0" marL="0">
              <a:buNone/>
            </a:pPr>
            <a:r>
              <a:rPr lang="en-US" sz="1550" b="1" dirty="0">
                <a:solidFill>
                  <a:srgbClr val="1A1E2E"/>
                </a:solidFill>
                <a:latin typeface="Calibri" pitchFamily="34" charset="0"/>
                <a:ea typeface="Calibri" pitchFamily="34" charset="-122"/>
                <a:cs typeface="Calibri" pitchFamily="34" charset="-120"/>
              </a:rPr>
              <a:t>Validation against classical routines (challenge requirement)
</a:t>
            </a:r>
            <a:pPr indent="0" marL="0">
              <a:buNone/>
            </a:pPr>
            <a:r>
              <a:rPr lang="en-US" sz="1350" dirty="0">
                <a:solidFill>
                  <a:srgbClr val="1A1E2E"/>
                </a:solidFill>
                <a:latin typeface="Calibri" pitchFamily="34" charset="0"/>
                <a:ea typeface="Calibri" pitchFamily="34" charset="-122"/>
                <a:cs typeface="Calibri" pitchFamily="34" charset="-120"/>
              </a:rPr>
              <a:t>Exhaustive enumeration of the C(n,K) shell (certified optimum) · branch-and-bound MIQP · cardinality-preserving simulated annealing · full-universe HRP.
</a:t>
            </a:r>
            <a:pPr indent="0" marL="0">
              <a:buNone/>
            </a:pPr>
            <a:r>
              <a:rPr lang="en-US" sz="1350" b="1" dirty="0">
                <a:solidFill>
                  <a:srgbClr val="1A1E2E"/>
                </a:solidFill>
                <a:latin typeface="Calibri" pitchFamily="34" charset="0"/>
                <a:ea typeface="Calibri" pitchFamily="34" charset="-122"/>
                <a:cs typeface="Calibri" pitchFamily="34" charset="-120"/>
              </a:rPr>
              <a:t>vs HRP baseline: </a:t>
            </a:r>
            <a:pPr indent="0" marL="0">
              <a:buNone/>
            </a:pPr>
            <a:r>
              <a:rPr lang="en-US" sz="1350" dirty="0">
                <a:solidFill>
                  <a:srgbClr val="1A1E2E"/>
                </a:solidFill>
                <a:latin typeface="Calibri" pitchFamily="34" charset="0"/>
                <a:ea typeface="Calibri" pitchFamily="34" charset="-122"/>
                <a:cs typeface="Calibri" pitchFamily="34" charset="-120"/>
              </a:rPr>
              <a:t>HRP diversifies over all 100 names — but structurally violates the K-name mandate (1 breach). OMEGA delivers the mandated exactly-20 book at comparable risk-adjusted quality with zero breaches. ADMM residuals decayed 9/9 clusters to ~10⁻⁵; adaptive ρ activated in 9/9; ZNE cut noisy-energy error 6× (0.0013 → 0.0002).</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The Allocation Copilot — Live on Real Market Data</a:t>
            </a:r>
            <a:endParaRPr lang="en-US" sz="3000" dirty="0"/>
          </a:p>
        </p:txBody>
      </p:sp>
      <p:pic>
        <p:nvPicPr>
          <p:cNvPr id="3" name="Image 0" descr="C:\Users\hasti\Desktop\WISER\docs\screenshots\01-allocation.png">    </p:cNvPr>
          <p:cNvPicPr>
            <a:picLocks noChangeAspect="1"/>
          </p:cNvPicPr>
          <p:nvPr/>
        </p:nvPicPr>
        <p:blipFill>
          <a:blip r:embed="rId1"/>
          <a:stretch>
            <a:fillRect/>
          </a:stretch>
        </p:blipFill>
        <p:spPr>
          <a:xfrm>
            <a:off x="457200" y="1234440"/>
            <a:ext cx="7461504" cy="4480560"/>
          </a:xfrm>
          <a:prstGeom prst="rect">
            <a:avLst/>
          </a:prstGeom>
          <a:effectLst>
            <a:outerShdw sx="100000" sy="100000" kx="0" ky="0" algn="bl" rotWithShape="0" blurRad="76200" dist="25400" dir="5400000">
              <a:srgbClr val="9AA6B8">
                <a:alpha val="45000"/>
              </a:srgbClr>
            </a:outerShdw>
          </a:effectLst>
        </p:spPr>
      </p:pic>
      <p:sp>
        <p:nvSpPr>
          <p:cNvPr id="4" name="Shape 1"/>
          <p:cNvSpPr/>
          <p:nvPr/>
        </p:nvSpPr>
        <p:spPr>
          <a:xfrm>
            <a:off x="8183880" y="1234440"/>
            <a:ext cx="3547872" cy="4480560"/>
          </a:xfrm>
          <a:prstGeom prst="roundRect">
            <a:avLst>
              <a:gd name="adj" fmla="val 2062"/>
            </a:avLst>
          </a:prstGeom>
          <a:solidFill>
            <a:srgbClr val="F0F4FB"/>
          </a:solidFill>
          <a:ln/>
        </p:spPr>
      </p:sp>
      <p:sp>
        <p:nvSpPr>
          <p:cNvPr id="5" name="Text 2"/>
          <p:cNvSpPr/>
          <p:nvPr/>
        </p:nvSpPr>
        <p:spPr>
          <a:xfrm>
            <a:off x="8412480" y="1481328"/>
            <a:ext cx="3108960" cy="4023360"/>
          </a:xfrm>
          <a:prstGeom prst="rect">
            <a:avLst/>
          </a:prstGeom>
          <a:noFill/>
          <a:ln/>
        </p:spPr>
        <p:txBody>
          <a:bodyPr wrap="square" lIns="0" tIns="0" rIns="0" bIns="0" rtlCol="0" anchor="t"/>
          <a:lstStyle/>
          <a:p>
            <a:pPr indent="0" marL="0">
              <a:spcAft>
                <a:spcPts val="1200"/>
              </a:spcAft>
              <a:buNone/>
            </a:pPr>
            <a:r>
              <a:rPr lang="en-US" sz="1500" b="1" dirty="0">
                <a:solidFill>
                  <a:srgbClr val="1E2761"/>
                </a:solidFill>
                <a:latin typeface="Calibri" pitchFamily="34" charset="0"/>
                <a:ea typeface="Calibri" pitchFamily="34" charset="-122"/>
                <a:cs typeface="Calibri" pitchFamily="34" charset="-120"/>
              </a:rPr>
              <a:t>What you're seeing
</a:t>
            </a:r>
            <a:endParaRPr lang="en-US" sz="1500" dirty="0"/>
          </a:p>
          <a:p>
            <a:pPr marL="342900" indent="-342900">
              <a:spcAft>
                <a:spcPts val="1100"/>
              </a:spcAft>
              <a:buSzPct val="100000"/>
              <a:buChar char="•"/>
            </a:pPr>
            <a:r>
              <a:rPr lang="en-US" sz="1250" dirty="0">
                <a:solidFill>
                  <a:srgbClr val="1A1E2E"/>
                </a:solidFill>
                <a:latin typeface="Calibri" pitchFamily="34" charset="0"/>
                <a:ea typeface="Calibri" pitchFamily="34" charset="-122"/>
                <a:cs typeface="Calibri" pitchFamily="34" charset="-120"/>
              </a:rPr>
              <a:t>41 real ETFs, loaded offline — the same pipeline, unchanged.</a:t>
            </a:r>
            <a:endParaRPr lang="en-US" sz="1500" dirty="0"/>
          </a:p>
          <a:p>
            <a:pPr marL="342900" indent="-342900">
              <a:spcAft>
                <a:spcPts val="1100"/>
              </a:spcAft>
              <a:buSzPct val="100000"/>
              <a:buChar char="•"/>
            </a:pPr>
            <a:r>
              <a:rPr lang="en-US" sz="1250" dirty="0">
                <a:solidFill>
                  <a:srgbClr val="1A1E2E"/>
                </a:solidFill>
                <a:latin typeface="Calibri" pitchFamily="34" charset="0"/>
                <a:ea typeface="Calibri" pitchFamily="34" charset="-122"/>
                <a:cs typeface="Calibri" pitchFamily="34" charset="-120"/>
              </a:rPr>
              <a:t>Zero hard-guardrail breaches — top metric, guaranteed by design.</a:t>
            </a:r>
            <a:endParaRPr lang="en-US" sz="1500" dirty="0"/>
          </a:p>
          <a:p>
            <a:pPr marL="342900" indent="-342900">
              <a:spcAft>
                <a:spcPts val="1100"/>
              </a:spcAft>
              <a:buSzPct val="100000"/>
              <a:buChar char="•"/>
            </a:pPr>
            <a:r>
              <a:rPr lang="en-US" sz="1250" dirty="0">
                <a:solidFill>
                  <a:srgbClr val="1A1E2E"/>
                </a:solidFill>
                <a:latin typeface="Calibri" pitchFamily="34" charset="0"/>
                <a:ea typeface="Calibri" pitchFamily="34" charset="-122"/>
                <a:cs typeface="Calibri" pitchFamily="34" charset="-120"/>
              </a:rPr>
              <a:t>Weights pinned at the 10% cap and 1% floor — the constraints are visibly binding.</a:t>
            </a:r>
            <a:endParaRPr lang="en-US" sz="1500" dirty="0"/>
          </a:p>
          <a:p>
            <a:pPr marL="342900" indent="-342900">
              <a:buSzPct val="100000"/>
              <a:buChar char="•"/>
            </a:pPr>
            <a:r>
              <a:rPr lang="en-US" sz="1250" dirty="0">
                <a:solidFill>
                  <a:srgbClr val="1A1E2E"/>
                </a:solidFill>
                <a:latin typeface="Calibri" pitchFamily="34" charset="0"/>
                <a:ea typeface="Calibri" pitchFamily="34" charset="-122"/>
                <a:cs typeface="Calibri" pitchFamily="34" charset="-120"/>
              </a:rPr>
              <a:t>Four investor-goal sliders live in the sidebar.</a:t>
            </a:r>
            <a:endParaRPr lang="en-US" sz="1500" dirty="0"/>
          </a:p>
        </p:txBody>
      </p:sp>
      <p:sp>
        <p:nvSpPr>
          <p:cNvPr id="6" name="Text 3"/>
          <p:cNvSpPr/>
          <p:nvPr/>
        </p:nvSpPr>
        <p:spPr>
          <a:xfrm>
            <a:off x="457200" y="5943600"/>
            <a:ext cx="11247120" cy="457200"/>
          </a:xfrm>
          <a:prstGeom prst="rect">
            <a:avLst/>
          </a:prstGeom>
          <a:noFill/>
          <a:ln/>
        </p:spPr>
        <p:txBody>
          <a:bodyPr wrap="square" lIns="0" tIns="0" rIns="0" bIns="0" rtlCol="0" anchor="ctr"/>
          <a:lstStyle/>
          <a:p>
            <a:pPr indent="0" marL="0">
              <a:buNone/>
            </a:pPr>
            <a:r>
              <a:rPr lang="en-US" sz="1250" i="1" dirty="0">
                <a:solidFill>
                  <a:srgbClr val="5A6478"/>
                </a:solidFill>
                <a:latin typeface="Calibri" pitchFamily="34" charset="0"/>
                <a:ea typeface="Calibri" pitchFamily="34" charset="-122"/>
                <a:cs typeface="Calibri" pitchFamily="34" charset="-120"/>
              </a:rPr>
              <a:t>Interactive Streamlit copilot · three tabs: Allocation · ADMM Convergence · Hardware Audit.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Adversarial Benchmark: We Ran Their Stack, Correctly</a:t>
            </a:r>
            <a:endParaRPr lang="en-US" sz="3000" dirty="0"/>
          </a:p>
        </p:txBody>
      </p:sp>
      <p:sp>
        <p:nvSpPr>
          <p:cNvPr id="3" name="Text 1"/>
          <p:cNvSpPr/>
          <p:nvPr/>
        </p:nvSpPr>
        <p:spPr>
          <a:xfrm>
            <a:off x="502920" y="1188720"/>
            <a:ext cx="11155680" cy="548640"/>
          </a:xfrm>
          <a:prstGeom prst="rect">
            <a:avLst/>
          </a:prstGeom>
          <a:noFill/>
          <a:ln/>
        </p:spPr>
        <p:txBody>
          <a:bodyPr wrap="square" lIns="0" tIns="0" rIns="0" bIns="0" rtlCol="0" anchor="ctr"/>
          <a:lstStyle/>
          <a:p>
            <a:pPr indent="0" marL="0">
              <a:buNone/>
            </a:pPr>
            <a:r>
              <a:rPr lang="en-US" sz="1400" dirty="0">
                <a:solidFill>
                  <a:srgbClr val="5A6478"/>
                </a:solidFill>
                <a:latin typeface="Calibri" pitchFamily="34" charset="0"/>
                <a:ea typeface="Calibri" pitchFamily="34" charset="-122"/>
                <a:cs typeface="Calibri" pitchFamily="34" charset="-120"/>
              </a:rPr>
              <a:t>Full-strength replication of the DBSCAN + soft-penalty-QUBO + X-mixer pipeline — encoding verified exact against brute force. Failure modes are measured, never scripted.</a:t>
            </a:r>
            <a:endParaRPr lang="en-US" sz="1400" dirty="0"/>
          </a:p>
        </p:txBody>
      </p:sp>
      <p:sp>
        <p:nvSpPr>
          <p:cNvPr id="4" name="Shape 2"/>
          <p:cNvSpPr/>
          <p:nvPr/>
        </p:nvSpPr>
        <p:spPr>
          <a:xfrm>
            <a:off x="502920" y="1965960"/>
            <a:ext cx="3657600" cy="2651760"/>
          </a:xfrm>
          <a:prstGeom prst="roundRect">
            <a:avLst>
              <a:gd name="adj" fmla="val 2759"/>
            </a:avLst>
          </a:prstGeom>
          <a:solidFill>
            <a:srgbClr val="F0F4FB"/>
          </a:solidFill>
          <a:ln/>
        </p:spPr>
      </p:sp>
      <p:sp>
        <p:nvSpPr>
          <p:cNvPr id="5" name="Text 3"/>
          <p:cNvSpPr/>
          <p:nvPr/>
        </p:nvSpPr>
        <p:spPr>
          <a:xfrm>
            <a:off x="704088" y="2176272"/>
            <a:ext cx="3246120" cy="502920"/>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λ = 0.05 (small penalty)</a:t>
            </a:r>
            <a:endParaRPr lang="en-US" sz="1500" dirty="0"/>
          </a:p>
        </p:txBody>
      </p:sp>
      <p:sp>
        <p:nvSpPr>
          <p:cNvPr id="6" name="Text 4"/>
          <p:cNvSpPr/>
          <p:nvPr/>
        </p:nvSpPr>
        <p:spPr>
          <a:xfrm>
            <a:off x="704088" y="2724912"/>
            <a:ext cx="3246120" cy="1737360"/>
          </a:xfrm>
          <a:prstGeom prst="rect">
            <a:avLst/>
          </a:prstGeom>
          <a:noFill/>
          <a:ln/>
        </p:spPr>
        <p:txBody>
          <a:bodyPr wrap="square" lIns="0" tIns="0" rIns="0" bIns="0" rtlCol="0" anchor="t"/>
          <a:lstStyle/>
          <a:p>
            <a:pPr indent="0" marL="0">
              <a:buNone/>
            </a:pPr>
            <a:r>
              <a:rPr lang="en-US" sz="1350" dirty="0">
                <a:solidFill>
                  <a:srgbClr val="1A1E2E"/>
                </a:solidFill>
                <a:latin typeface="Calibri" pitchFamily="34" charset="0"/>
                <a:ea typeface="Calibri" pitchFamily="34" charset="-122"/>
                <a:cs typeface="Calibri" pitchFamily="34" charset="-120"/>
              </a:rPr>
              <a:t>2.3% feasible shots. Most probable outcome: BUY NOTHING — an empty portfolio.</a:t>
            </a:r>
            <a:endParaRPr lang="en-US" sz="1350" dirty="0"/>
          </a:p>
        </p:txBody>
      </p:sp>
      <p:sp>
        <p:nvSpPr>
          <p:cNvPr id="7" name="Shape 5"/>
          <p:cNvSpPr/>
          <p:nvPr/>
        </p:nvSpPr>
        <p:spPr>
          <a:xfrm>
            <a:off x="4443984" y="1965960"/>
            <a:ext cx="3657600" cy="2651760"/>
          </a:xfrm>
          <a:prstGeom prst="roundRect">
            <a:avLst>
              <a:gd name="adj" fmla="val 2759"/>
            </a:avLst>
          </a:prstGeom>
          <a:solidFill>
            <a:srgbClr val="F0F4FB"/>
          </a:solidFill>
          <a:ln/>
        </p:spPr>
      </p:sp>
      <p:sp>
        <p:nvSpPr>
          <p:cNvPr id="8" name="Text 6"/>
          <p:cNvSpPr/>
          <p:nvPr/>
        </p:nvSpPr>
        <p:spPr>
          <a:xfrm>
            <a:off x="4645152" y="2176272"/>
            <a:ext cx="3246120" cy="502920"/>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λ = 5 (large penalty)</a:t>
            </a:r>
            <a:endParaRPr lang="en-US" sz="1500" dirty="0"/>
          </a:p>
        </p:txBody>
      </p:sp>
      <p:sp>
        <p:nvSpPr>
          <p:cNvPr id="9" name="Text 7"/>
          <p:cNvSpPr/>
          <p:nvPr/>
        </p:nvSpPr>
        <p:spPr>
          <a:xfrm>
            <a:off x="4645152" y="2724912"/>
            <a:ext cx="3246120" cy="1737360"/>
          </a:xfrm>
          <a:prstGeom prst="rect">
            <a:avLst/>
          </a:prstGeom>
          <a:noFill/>
          <a:ln/>
        </p:spPr>
        <p:txBody>
          <a:bodyPr wrap="square" lIns="0" tIns="0" rIns="0" bIns="0" rtlCol="0" anchor="t"/>
          <a:lstStyle/>
          <a:p>
            <a:pPr indent="0" marL="0">
              <a:buNone/>
            </a:pPr>
            <a:r>
              <a:rPr lang="en-US" sz="1350" dirty="0">
                <a:solidFill>
                  <a:srgbClr val="1A1E2E"/>
                </a:solidFill>
                <a:latin typeface="Calibri" pitchFamily="34" charset="0"/>
                <a:ea typeface="Calibri" pitchFamily="34" charset="-122"/>
                <a:cs typeface="Calibri" pitchFamily="34" charset="-120"/>
              </a:rPr>
              <a:t>Feasible — but market signal rides on 4.9% of each rotation angle: below realistic pulse calibration.</a:t>
            </a:r>
            <a:endParaRPr lang="en-US" sz="1350" dirty="0"/>
          </a:p>
        </p:txBody>
      </p:sp>
      <p:sp>
        <p:nvSpPr>
          <p:cNvPr id="10" name="Shape 8"/>
          <p:cNvSpPr/>
          <p:nvPr/>
        </p:nvSpPr>
        <p:spPr>
          <a:xfrm>
            <a:off x="8385048" y="1965960"/>
            <a:ext cx="3657600" cy="2651760"/>
          </a:xfrm>
          <a:prstGeom prst="roundRect">
            <a:avLst>
              <a:gd name="adj" fmla="val 2759"/>
            </a:avLst>
          </a:prstGeom>
          <a:solidFill>
            <a:srgbClr val="F0F4FB"/>
          </a:solidFill>
          <a:ln/>
        </p:spPr>
      </p:sp>
      <p:sp>
        <p:nvSpPr>
          <p:cNvPr id="11" name="Text 9"/>
          <p:cNvSpPr/>
          <p:nvPr/>
        </p:nvSpPr>
        <p:spPr>
          <a:xfrm>
            <a:off x="8586216" y="2176272"/>
            <a:ext cx="3246120" cy="502920"/>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DBSCAN at defaults</a:t>
            </a:r>
            <a:endParaRPr lang="en-US" sz="1500" dirty="0"/>
          </a:p>
        </p:txBody>
      </p:sp>
      <p:sp>
        <p:nvSpPr>
          <p:cNvPr id="12" name="Text 10"/>
          <p:cNvSpPr/>
          <p:nvPr/>
        </p:nvSpPr>
        <p:spPr>
          <a:xfrm>
            <a:off x="8586216" y="2724912"/>
            <a:ext cx="3246120" cy="1737360"/>
          </a:xfrm>
          <a:prstGeom prst="rect">
            <a:avLst/>
          </a:prstGeom>
          <a:noFill/>
          <a:ln/>
        </p:spPr>
        <p:txBody>
          <a:bodyPr wrap="square" lIns="0" tIns="0" rIns="0" bIns="0" rtlCol="0" anchor="t"/>
          <a:lstStyle/>
          <a:p>
            <a:pPr indent="0" marL="0">
              <a:buNone/>
            </a:pPr>
            <a:r>
              <a:rPr lang="en-US" sz="1350" dirty="0">
                <a:solidFill>
                  <a:srgbClr val="1A1E2E"/>
                </a:solidFill>
                <a:latin typeface="Calibri" pitchFamily="34" charset="0"/>
                <a:ea typeface="Calibri" pitchFamily="34" charset="-122"/>
                <a:cs typeface="Calibri" pitchFamily="34" charset="-120"/>
              </a:rPr>
              <a:t>Labels ALL 100 assets as noise. No dendrogram to cut at a qubit budget. HRP: 96% purity, 0 discarded.</a:t>
            </a:r>
            <a:endParaRPr lang="en-US" sz="1350" dirty="0"/>
          </a:p>
        </p:txBody>
      </p:sp>
      <p:sp>
        <p:nvSpPr>
          <p:cNvPr id="13" name="Shape 11"/>
          <p:cNvSpPr/>
          <p:nvPr/>
        </p:nvSpPr>
        <p:spPr>
          <a:xfrm>
            <a:off x="502920" y="4892040"/>
            <a:ext cx="11558016" cy="1371600"/>
          </a:xfrm>
          <a:prstGeom prst="roundRect">
            <a:avLst>
              <a:gd name="adj" fmla="val 5333"/>
            </a:avLst>
          </a:prstGeom>
          <a:solidFill>
            <a:srgbClr val="CADCFC"/>
          </a:solidFill>
          <a:ln/>
        </p:spPr>
      </p:sp>
      <p:sp>
        <p:nvSpPr>
          <p:cNvPr id="14" name="Text 12"/>
          <p:cNvSpPr/>
          <p:nvPr/>
        </p:nvSpPr>
        <p:spPr>
          <a:xfrm>
            <a:off x="777240" y="5074920"/>
            <a:ext cx="10972800" cy="1051560"/>
          </a:xfrm>
          <a:prstGeom prst="rect">
            <a:avLst/>
          </a:prstGeom>
          <a:noFill/>
          <a:ln/>
        </p:spPr>
        <p:txBody>
          <a:bodyPr wrap="square" lIns="0" tIns="0" rIns="0" bIns="0" rtlCol="0" anchor="ctr"/>
          <a:lstStyle/>
          <a:p>
            <a:pPr indent="0" marL="0">
              <a:buNone/>
            </a:pPr>
            <a:r>
              <a:rPr lang="en-US" sz="1450" b="1" dirty="0">
                <a:solidFill>
                  <a:srgbClr val="1A1E2E"/>
                </a:solidFill>
                <a:latin typeface="Calibri" pitchFamily="34" charset="0"/>
                <a:ea typeface="Calibri" pitchFamily="34" charset="-122"/>
                <a:cs typeface="Calibri" pitchFamily="34" charset="-120"/>
              </a:rPr>
              <a:t>The double bind, demonstrated: </a:t>
            </a:r>
            <a:pPr indent="0" marL="0">
              <a:buNone/>
            </a:pPr>
            <a:r>
              <a:rPr lang="en-US" sz="1450" dirty="0">
                <a:solidFill>
                  <a:srgbClr val="1A1E2E"/>
                </a:solidFill>
                <a:latin typeface="Calibri" pitchFamily="34" charset="0"/>
                <a:ea typeface="Calibri" pitchFamily="34" charset="-122"/>
                <a:cs typeface="Calibri" pitchFamily="34" charset="-120"/>
              </a:rPr>
              <a:t>no λ is right. Small λ leaks the mandate; large λ erases the market. And because the penalty couples all N assets, their formulation cannot be decomposed — whatever λ they pick, they must run one monolithic N-qubit circuit.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Hardware Audit: Real Transpiler, Real Heavy-Hex Lattice</a:t>
            </a:r>
            <a:endParaRPr lang="en-US" sz="3000" dirty="0"/>
          </a:p>
        </p:txBody>
      </p:sp>
      <p:graphicFrame>
        <p:nvGraphicFramePr>
          <p:cNvPr id="3" name="Chart 0" descr=""/>
          <p:cNvGraphicFramePr/>
          <p:nvPr/>
        </p:nvGraphicFramePr>
        <p:xfrm>
          <a:off x="502920" y="132588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25880"/>
            <a:ext cx="4069080" cy="4480560"/>
          </a:xfrm>
          <a:prstGeom prst="roundRect">
            <a:avLst>
              <a:gd name="adj" fmla="val 1798"/>
            </a:avLst>
          </a:prstGeom>
          <a:solidFill>
            <a:srgbClr val="F0F4FB"/>
          </a:solidFill>
          <a:ln/>
        </p:spPr>
      </p:sp>
      <p:sp>
        <p:nvSpPr>
          <p:cNvPr id="5" name="Text 2"/>
          <p:cNvSpPr/>
          <p:nvPr/>
        </p:nvSpPr>
        <p:spPr>
          <a:xfrm>
            <a:off x="7772400" y="1645920"/>
            <a:ext cx="3703320" cy="868680"/>
          </a:xfrm>
          <a:prstGeom prst="rect">
            <a:avLst/>
          </a:prstGeom>
          <a:noFill/>
          <a:ln/>
        </p:spPr>
        <p:txBody>
          <a:bodyPr wrap="square" lIns="0" tIns="0" rIns="0" bIns="0" rtlCol="0" anchor="ctr"/>
          <a:lstStyle/>
          <a:p>
            <a:pPr algn="ctr" indent="0" marL="0">
              <a:buNone/>
            </a:pPr>
            <a:r>
              <a:rPr lang="en-US" sz="4000" b="1" dirty="0">
                <a:solidFill>
                  <a:srgbClr val="C0392B"/>
                </a:solidFill>
                <a:latin typeface="Calibri" pitchFamily="34" charset="0"/>
                <a:ea typeface="Calibri" pitchFamily="34" charset="-122"/>
                <a:cs typeface="Calibri" pitchFamily="34" charset="-120"/>
              </a:rPr>
              <a:t>14,630</a:t>
            </a:r>
            <a:endParaRPr lang="en-US" sz="4000" dirty="0"/>
          </a:p>
        </p:txBody>
      </p:sp>
      <p:sp>
        <p:nvSpPr>
          <p:cNvPr id="6" name="Text 3"/>
          <p:cNvSpPr/>
          <p:nvPr/>
        </p:nvSpPr>
        <p:spPr>
          <a:xfrm>
            <a:off x="7772400" y="2487168"/>
            <a:ext cx="370332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SWAP-tax CX gates the monolithic penalty circuit pays for routing alone</a:t>
            </a:r>
            <a:endParaRPr lang="en-US" sz="1250" dirty="0"/>
          </a:p>
        </p:txBody>
      </p:sp>
      <p:sp>
        <p:nvSpPr>
          <p:cNvPr id="7" name="Text 4"/>
          <p:cNvSpPr/>
          <p:nvPr/>
        </p:nvSpPr>
        <p:spPr>
          <a:xfrm>
            <a:off x="7772400" y="3200400"/>
            <a:ext cx="3703320" cy="868680"/>
          </a:xfrm>
          <a:prstGeom prst="rect">
            <a:avLst/>
          </a:prstGeom>
          <a:noFill/>
          <a:ln/>
        </p:spPr>
        <p:txBody>
          <a:bodyPr wrap="square" lIns="0" tIns="0" rIns="0" bIns="0" rtlCol="0" anchor="ctr"/>
          <a:lstStyle/>
          <a:p>
            <a:pPr algn="ctr" indent="0" marL="0">
              <a:buNone/>
            </a:pPr>
            <a:r>
              <a:rPr lang="en-US" sz="4000" b="1" dirty="0">
                <a:solidFill>
                  <a:srgbClr val="C0392B"/>
                </a:solidFill>
                <a:latin typeface="Calibri" pitchFamily="34" charset="0"/>
                <a:ea typeface="Calibri" pitchFamily="34" charset="-122"/>
                <a:cs typeface="Calibri" pitchFamily="34" charset="-120"/>
              </a:rPr>
              <a:t>14×</a:t>
            </a:r>
            <a:endParaRPr lang="en-US" sz="4000" dirty="0"/>
          </a:p>
        </p:txBody>
      </p:sp>
      <p:sp>
        <p:nvSpPr>
          <p:cNvPr id="8" name="Text 5"/>
          <p:cNvSpPr/>
          <p:nvPr/>
        </p:nvSpPr>
        <p:spPr>
          <a:xfrm>
            <a:off x="7772400" y="4041648"/>
            <a:ext cx="3703320" cy="68580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more noise exposure than OMEGA's largest circuit — same N=100 problem</a:t>
            </a:r>
            <a:endParaRPr lang="en-US" sz="1250" dirty="0"/>
          </a:p>
        </p:txBody>
      </p:sp>
      <p:sp>
        <p:nvSpPr>
          <p:cNvPr id="9" name="Text 6"/>
          <p:cNvSpPr/>
          <p:nvPr/>
        </p:nvSpPr>
        <p:spPr>
          <a:xfrm>
            <a:off x="502920" y="5897880"/>
            <a:ext cx="11155680" cy="594360"/>
          </a:xfrm>
          <a:prstGeom prst="rect">
            <a:avLst/>
          </a:prstGeom>
          <a:noFill/>
          <a:ln/>
        </p:spPr>
        <p:txBody>
          <a:bodyPr wrap="square" lIns="0" tIns="0" rIns="0" bIns="0" rtlCol="0" anchor="ctr"/>
          <a:lstStyle/>
          <a:p>
            <a:pPr indent="0" marL="0">
              <a:buNone/>
            </a:pPr>
            <a:r>
              <a:rPr lang="en-US" sz="1300" i="1" dirty="0">
                <a:solidFill>
                  <a:srgbClr val="5A6478"/>
                </a:solidFill>
                <a:latin typeface="Calibri" pitchFamily="34" charset="0"/>
                <a:ea typeface="Calibri" pitchFamily="34" charset="-122"/>
                <a:cs typeface="Calibri" pitchFamily="34" charset="-120"/>
              </a:rPr>
              <a:t>At matched size their circuit is cheaper (530 vs 1,735) — we show it. The point is architectural: they can never run small; we never need to run big.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83112" cy="777240"/>
          </a:xfrm>
          <a:prstGeom prst="rect">
            <a:avLst/>
          </a:prstGeom>
          <a:noFill/>
          <a:ln/>
        </p:spPr>
        <p:txBody>
          <a:bodyPr wrap="square" lIns="0" tIns="0" rIns="0" bIns="0" rtlCol="0" anchor="ctr"/>
          <a:lstStyle/>
          <a:p>
            <a:pPr indent="0" marL="0">
              <a:buNone/>
            </a:pPr>
            <a:r>
              <a:rPr lang="en-US" sz="3000" b="1" dirty="0">
                <a:solidFill>
                  <a:srgbClr val="1A1E2E"/>
                </a:solidFill>
                <a:latin typeface="Cambria" pitchFamily="34" charset="0"/>
                <a:ea typeface="Cambria" pitchFamily="34" charset="-122"/>
                <a:cs typeface="Cambria" pitchFamily="34" charset="-120"/>
              </a:rPr>
              <a:t>Scope &amp; Roadmap</a:t>
            </a:r>
            <a:endParaRPr lang="en-US" sz="3000" dirty="0"/>
          </a:p>
        </p:txBody>
      </p:sp>
      <p:sp>
        <p:nvSpPr>
          <p:cNvPr id="3" name="Shape 1"/>
          <p:cNvSpPr/>
          <p:nvPr/>
        </p:nvSpPr>
        <p:spPr>
          <a:xfrm>
            <a:off x="502920" y="1371600"/>
            <a:ext cx="5532120" cy="4480560"/>
          </a:xfrm>
          <a:prstGeom prst="roundRect">
            <a:avLst>
              <a:gd name="adj" fmla="val 1633"/>
            </a:avLst>
          </a:prstGeom>
          <a:solidFill>
            <a:srgbClr val="F0F4FB"/>
          </a:solidFill>
          <a:ln/>
        </p:spPr>
      </p:sp>
      <p:sp>
        <p:nvSpPr>
          <p:cNvPr id="4" name="Text 2"/>
          <p:cNvSpPr/>
          <p:nvPr/>
        </p:nvSpPr>
        <p:spPr>
          <a:xfrm>
            <a:off x="777240" y="1572768"/>
            <a:ext cx="5029200" cy="4114800"/>
          </a:xfrm>
          <a:prstGeom prst="rect">
            <a:avLst/>
          </a:prstGeom>
          <a:noFill/>
          <a:ln/>
        </p:spPr>
        <p:txBody>
          <a:bodyPr wrap="square" lIns="0" tIns="0" rIns="0" bIns="0" rtlCol="0" anchor="t"/>
          <a:lstStyle/>
          <a:p>
            <a:pPr indent="0" marL="0">
              <a:buNone/>
            </a:pPr>
            <a:r>
              <a:rPr lang="en-US" sz="1600" b="1" dirty="0">
                <a:solidFill>
                  <a:srgbClr val="1E2761"/>
                </a:solidFill>
                <a:latin typeface="Calibri" pitchFamily="34" charset="0"/>
                <a:ea typeface="Calibri" pitchFamily="34" charset="-122"/>
                <a:cs typeface="Calibri" pitchFamily="34" charset="-120"/>
              </a:rPr>
              <a:t>Built for the hardware we're heading toward
</a:t>
            </a:r>
            <a:endParaRPr lang="en-US" sz="1600" dirty="0"/>
          </a:p>
          <a:p>
            <a:pPr marL="342900" indent="-342900">
              <a:spcAft>
                <a:spcPts val="1000"/>
              </a:spcAft>
              <a:buSzPct val="100000"/>
              <a:buChar char="•"/>
            </a:pPr>
            <a:r>
              <a:rPr lang="en-US" sz="1350" dirty="0">
                <a:solidFill>
                  <a:srgbClr val="1A1E2E"/>
                </a:solidFill>
                <a:latin typeface="Calibri" pitchFamily="34" charset="0"/>
                <a:ea typeface="Calibri" pitchFamily="34" charset="-122"/>
                <a:cs typeface="Calibri" pitchFamily="34" charset="-120"/>
              </a:rPr>
              <a:t>Every circuit ≤ 20 qubits — sized for the real NISQ devices of today, not a distant fault-tolerant future.</a:t>
            </a:r>
            <a:endParaRPr lang="en-US" sz="1600" dirty="0"/>
          </a:p>
          <a:p>
            <a:pPr marL="342900" indent="-342900">
              <a:spcAft>
                <a:spcPts val="1000"/>
              </a:spcAft>
              <a:buSzPct val="100000"/>
              <a:buChar char="•"/>
            </a:pPr>
            <a:r>
              <a:rPr lang="en-US" sz="1350" dirty="0">
                <a:solidFill>
                  <a:srgbClr val="1A1E2E"/>
                </a:solidFill>
                <a:latin typeface="Calibri" pitchFamily="34" charset="0"/>
                <a:ea typeface="Calibri" pitchFamily="34" charset="-122"/>
                <a:cs typeface="Calibri" pitchFamily="34" charset="-120"/>
              </a:rPr>
              <a:t>Compliance gate and per-run audit trail packaged as a deployable engine — not just a notebook.</a:t>
            </a:r>
            <a:endParaRPr lang="en-US" sz="1600" dirty="0"/>
          </a:p>
          <a:p>
            <a:pPr marL="342900" indent="-342900">
              <a:buSzPct val="100000"/>
              <a:buChar char="•"/>
            </a:pPr>
            <a:r>
              <a:rPr lang="en-US" sz="1350" dirty="0">
                <a:solidFill>
                  <a:srgbClr val="1A1E2E"/>
                </a:solidFill>
                <a:latin typeface="Calibri" pitchFamily="34" charset="0"/>
                <a:ea typeface="Calibri" pitchFamily="34" charset="-122"/>
                <a:cs typeface="Calibri" pitchFamily="34" charset="-120"/>
              </a:rPr>
              <a:t>Directly relevant: every institutional fund must hold a fixed set of names under hard mandates.</a:t>
            </a:r>
            <a:endParaRPr lang="en-US" sz="1600" dirty="0"/>
          </a:p>
        </p:txBody>
      </p:sp>
      <p:sp>
        <p:nvSpPr>
          <p:cNvPr id="5" name="Shape 3"/>
          <p:cNvSpPr/>
          <p:nvPr/>
        </p:nvSpPr>
        <p:spPr>
          <a:xfrm>
            <a:off x="6519672" y="1371600"/>
            <a:ext cx="5532120" cy="4480560"/>
          </a:xfrm>
          <a:prstGeom prst="roundRect">
            <a:avLst>
              <a:gd name="adj" fmla="val 1633"/>
            </a:avLst>
          </a:prstGeom>
          <a:solidFill>
            <a:srgbClr val="F0F4FB"/>
          </a:solidFill>
          <a:ln/>
        </p:spPr>
      </p:sp>
      <p:sp>
        <p:nvSpPr>
          <p:cNvPr id="6" name="Text 4"/>
          <p:cNvSpPr/>
          <p:nvPr/>
        </p:nvSpPr>
        <p:spPr>
          <a:xfrm>
            <a:off x="6793992" y="1572768"/>
            <a:ext cx="5029200" cy="4114800"/>
          </a:xfrm>
          <a:prstGeom prst="rect">
            <a:avLst/>
          </a:prstGeom>
          <a:noFill/>
          <a:ln/>
        </p:spPr>
        <p:txBody>
          <a:bodyPr wrap="square" lIns="0" tIns="0" rIns="0" bIns="0" rtlCol="0" anchor="t"/>
          <a:lstStyle/>
          <a:p>
            <a:pPr indent="0" marL="0">
              <a:buNone/>
            </a:pPr>
            <a:r>
              <a:rPr lang="en-US" sz="1600" b="1" dirty="0">
                <a:solidFill>
                  <a:srgbClr val="02C39A"/>
                </a:solidFill>
                <a:latin typeface="Calibri" pitchFamily="34" charset="0"/>
                <a:ea typeface="Calibri" pitchFamily="34" charset="-122"/>
                <a:cs typeface="Calibri" pitchFamily="34" charset="-120"/>
              </a:rPr>
              <a:t>The path to practice
</a:t>
            </a:r>
            <a:endParaRPr lang="en-US" sz="1600" dirty="0"/>
          </a:p>
          <a:p>
            <a:pPr marL="342900" indent="-342900">
              <a:spcAft>
                <a:spcPts val="1000"/>
              </a:spcAft>
              <a:buSzPct val="100000"/>
              <a:buChar char="•"/>
            </a:pPr>
            <a:r>
              <a:rPr lang="en-US" sz="1350" dirty="0">
                <a:solidFill>
                  <a:srgbClr val="1A1E2E"/>
                </a:solidFill>
                <a:latin typeface="Calibri" pitchFamily="34" charset="0"/>
                <a:ea typeface="Calibri" pitchFamily="34" charset="-122"/>
                <a:cs typeface="Calibri" pitchFamily="34" charset="-120"/>
              </a:rPr>
              <a:t>Execute on a real QPU — circuits are already compiled to the heavy-hex layout, SWAP-free.</a:t>
            </a:r>
            <a:endParaRPr lang="en-US" sz="1600" dirty="0"/>
          </a:p>
          <a:p>
            <a:pPr marL="342900" indent="-342900">
              <a:spcAft>
                <a:spcPts val="1000"/>
              </a:spcAft>
              <a:buSzPct val="100000"/>
              <a:buChar char="•"/>
            </a:pPr>
            <a:r>
              <a:rPr lang="en-US" sz="1350" dirty="0">
                <a:solidFill>
                  <a:srgbClr val="1A1E2E"/>
                </a:solidFill>
                <a:latin typeface="Calibri" pitchFamily="34" charset="0"/>
                <a:ea typeface="Calibri" pitchFamily="34" charset="-122"/>
                <a:cs typeface="Calibri" pitchFamily="34" charset="-120"/>
              </a:rPr>
              <a:t>Scale to cluster sizes where classical enumeration becomes intractable — where quantum earns its keep.</a:t>
            </a:r>
            <a:endParaRPr lang="en-US" sz="1600" dirty="0"/>
          </a:p>
          <a:p>
            <a:pPr marL="342900" indent="-342900">
              <a:buSzPct val="100000"/>
              <a:buChar char="•"/>
            </a:pPr>
            <a:r>
              <a:rPr lang="en-US" sz="1350" dirty="0">
                <a:solidFill>
                  <a:srgbClr val="1A1E2E"/>
                </a:solidFill>
                <a:latin typeface="Calibri" pitchFamily="34" charset="0"/>
                <a:ea typeface="Calibri" pitchFamily="34" charset="-122"/>
                <a:cs typeface="Calibri" pitchFamily="34" charset="-120"/>
              </a:rPr>
              <a:t>Integrate a professional risk model and live data feeds for production deployment.</a:t>
            </a:r>
            <a:endParaRPr lang="en-US" sz="1600" dirty="0"/>
          </a:p>
        </p:txBody>
      </p:sp>
      <p:sp>
        <p:nvSpPr>
          <p:cNvPr id="7" name="Text 5"/>
          <p:cNvSpPr/>
          <p:nvPr/>
        </p:nvSpPr>
        <p:spPr>
          <a:xfrm>
            <a:off x="502920" y="5989320"/>
            <a:ext cx="11155680" cy="548640"/>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At today's scale the advantage is structural — a hard compliance guarantee and a hardware-ready architecture, built to earn quantum advantage as problem sizes grow.</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920240"/>
            <a:ext cx="10698480" cy="1828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Feasibility is not a penalty term.</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It's a symmetry.</a:t>
            </a:r>
            <a:endParaRPr lang="en-US" sz="4400" dirty="0"/>
          </a:p>
        </p:txBody>
      </p:sp>
      <p:sp>
        <p:nvSpPr>
          <p:cNvPr id="3" name="Text 1"/>
          <p:cNvSpPr/>
          <p:nvPr/>
        </p:nvSpPr>
        <p:spPr>
          <a:xfrm>
            <a:off x="731520" y="4069080"/>
            <a:ext cx="10698480" cy="54864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Multi-asset allocation copilot: guaranteed-compliant, hardware-ready, every number measured.</a:t>
            </a:r>
            <a:endParaRPr lang="en-US" sz="1800" dirty="0"/>
          </a:p>
        </p:txBody>
      </p:sp>
      <p:sp>
        <p:nvSpPr>
          <p:cNvPr id="4" name="Text 2"/>
          <p:cNvSpPr/>
          <p:nvPr/>
        </p:nvSpPr>
        <p:spPr>
          <a:xfrm>
            <a:off x="731520" y="5760720"/>
            <a:ext cx="10698480" cy="457200"/>
          </a:xfrm>
          <a:prstGeom prst="rect">
            <a:avLst/>
          </a:prstGeom>
          <a:noFill/>
          <a:ln/>
        </p:spPr>
        <p:txBody>
          <a:bodyPr wrap="square" lIns="0" tIns="0" rIns="0" bIns="0" rtlCol="0" anchor="ctr"/>
          <a:lstStyle/>
          <a:p>
            <a:pPr indent="0" marL="0">
              <a:buNone/>
            </a:pPr>
            <a:r>
              <a:rPr lang="en-US" sz="1400" dirty="0">
                <a:solidFill>
                  <a:srgbClr val="8FA3D8"/>
                </a:solidFill>
                <a:latin typeface="Calibri" pitchFamily="34" charset="0"/>
                <a:ea typeface="Calibri" pitchFamily="34" charset="-122"/>
                <a:cs typeface="Calibri" pitchFamily="34" charset="-120"/>
              </a:rPr>
              <a:t>github.com/hastikacheddy/wiser-vanguard-quantum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2026-09-23T11:59:06Z</dcterms:created>
  <dcterms:modified xsi:type="dcterms:W3CDTF">2026-09-23T11:59:06Z</dcterms:modified>
</cp:coreProperties>
</file>